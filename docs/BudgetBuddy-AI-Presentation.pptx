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4.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4.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9" r:id="rId2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  <Relationship Id="rId20" Type="http://schemas.openxmlformats.org/officeDocument/2006/relationships/slide" Target="slides/slide14.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a personal expense tracker where users can type or paste what they spent and ask questions about their own spending. Mention the three pieces: Firebase for sign-in and data, a Python FastAPI backend, and Groq for the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people stop tracking because it is slow. Local payment methods and languages are rarely supported. We also wanted a safe design where the API key is never exposed.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groups. The first row is the core assignment plus AI. The second row is extra: budgets, wallets, recurring bills, splitting, offline use and Urdu.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the table quickly. Every requirement from the assignment is implemented; everything else in the project is extra. The form also lets users create their own categories on top of the five required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The frontend talks to Firebase directly for sign-in and data. For AI features it talks to our own FastAPI backend, which holds the Groq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sequence left to right. The browser never sees the Groq key. The backend verifies the Firebase token, validates the body, applies the rate limit and only then calls Groq.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frontend framework or build step. The backend is a single small Python file. Firebase handles identity and data; Groq provides fast LLM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records live under users/{uid}. One security rule means a user can only read and write their own documents. Firestore also keeps an offline cache so the app works without internet. Custom categories are stored on the same user document as a customCats list, so the same rule protects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AI capabilities share one client function. Prompts use JSON mode where structured output is needed, are told to use only the supplied data and to ignore instructions hidden in expense titles. The AI never saves anything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one file. Tests replace Groq with a mock transport and Firebase verification with a stub, so they run in a fraction of a second without network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 Vercel first so you have a backend URL. Remember to add the Vercel domain and later the Firebase Hosting domain to Firebase Authentication authorized domains and to ALLOWED_ORIGINS, then redeploy after changing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limits. The most important one is the in-memory rate limiter, which is fine for a student project but would move to Redis or Firestore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three link placeholders with your real addresses after deployment. Offer a live demo: sign in, add an expense, use quick add and ask 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user can create their own categories. Open the Category dropdown and choose New category, or use Manage categories on the dashboard. Categories have a name and a colour, are stored on the user document as customCats, and show up in charts, limits, filters, reports and the AI prompts. Deleting one moves its expenses to Other. A jsdom test with 29 checks covers this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457200" y="4754880"/>
            <a:ext cx="2743200" cy="274320"/>
          </a:xfrm>
          <a:prstGeom prst="rect">
            <a:avLst/>
          </a:prstGeom>
          <a:noFill/>
          <a:ln/>
        </p:spPr>
        <p:txBody>
          <a:bodyPr wrap="square" lIns="0" tIns="0" rIns="0" bIns="0" rtlCol="0" anchor="ctr"/>
          <a:lstStyle/>
          <a:p>
            <a:pPr indent="0" marL="0">
              <a:buNone/>
            </a:pPr>
            <a:r>
              <a:rPr lang="en-US" sz="1000" dirty="0">
                <a:solidFill>
                  <a:schemeClr val="accent6"/>
                </a:solidFill>
              </a:rPr>
              <a:t>BudgetBuddy AI</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circle large"/>
          <p:cNvSpPr/>
          <p:nvPr/>
        </p:nvSpPr>
        <p:spPr>
          <a:xfrm>
            <a:off x="6309360" y="-914400"/>
            <a:ext cx="4206240" cy="4206240"/>
          </a:xfrm>
          <a:prstGeom prst="ellipse">
            <a:avLst/>
          </a:prstGeom>
          <a:solidFill>
            <a:schemeClr val="accent1">
              <a:alpha val="65000"/>
            </a:schemeClr>
          </a:solidFill>
          <a:ln w="12700">
            <a:solidFill>
              <a:schemeClr val="accent1"/>
            </a:solidFill>
            <a:prstDash val="solid"/>
          </a:ln>
        </p:spPr>
      </p:sp>
      <p:sp>
        <p:nvSpPr>
          <p:cNvPr id="3" name="Decor circle small"/>
          <p:cNvSpPr/>
          <p:nvPr/>
        </p:nvSpPr>
        <p:spPr>
          <a:xfrm>
            <a:off x="7589520" y="3017520"/>
            <a:ext cx="2194560" cy="2194560"/>
          </a:xfrm>
          <a:prstGeom prst="ellipse">
            <a:avLst/>
          </a:prstGeom>
          <a:solidFill>
            <a:schemeClr val="accent2">
              <a:alpha val="80000"/>
            </a:schemeClr>
          </a:solidFill>
          <a:ln w="12700">
            <a:solidFill>
              <a:schemeClr val="accent2"/>
            </a:solidFill>
            <a:prstDash val="solid"/>
          </a:ln>
        </p:spPr>
      </p:sp>
      <p:sp>
        <p:nvSpPr>
          <p:cNvPr id="4" name="Kicker"/>
          <p:cNvSpPr txBox="1"/>
          <p:nvPr/>
        </p:nvSpPr>
        <p:spPr>
          <a:xfrm>
            <a:off x="548640" y="914400"/>
            <a:ext cx="5486400" cy="320040"/>
          </a:xfrm>
          <a:prstGeom prst="rect">
            <a:avLst/>
          </a:prstGeom>
          <a:noFill/>
          <a:ln/>
        </p:spPr>
        <p:txBody>
          <a:bodyPr wrap="square" lIns="0" tIns="0" rIns="0" bIns="0" rtlCol="0" anchor="ctr"/>
          <a:lstStyle/>
          <a:p>
            <a:pPr indent="0" marL="0">
              <a:buNone/>
            </a:pPr>
            <a:r>
              <a:rPr lang="en-US" sz="1300" b="1" spc="400" kern="0" dirty="0">
                <a:solidFill>
                  <a:schemeClr val="accent2"/>
                </a:solidFill>
              </a:rPr>
              <a:t>PROJECT PRESENTATION</a:t>
            </a:r>
            <a:endParaRPr lang="en-US" sz="1300" dirty="0"/>
          </a:p>
        </p:txBody>
      </p:sp>
      <p:sp>
        <p:nvSpPr>
          <p:cNvPr id="5" name="Title"/>
          <p:cNvSpPr txBox="1"/>
          <p:nvPr/>
        </p:nvSpPr>
        <p:spPr>
          <a:xfrm>
            <a:off x="548640" y="1280160"/>
            <a:ext cx="6858000" cy="109728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BudgetBuddy AI</a:t>
            </a:r>
            <a:endParaRPr lang="en-US" sz="5400" dirty="0"/>
          </a:p>
        </p:txBody>
      </p:sp>
      <p:sp>
        <p:nvSpPr>
          <p:cNvPr id="6" name="Subtitle"/>
          <p:cNvSpPr txBox="1"/>
          <p:nvPr/>
        </p:nvSpPr>
        <p:spPr>
          <a:xfrm>
            <a:off x="548640" y="2423160"/>
            <a:ext cx="5760720" cy="731520"/>
          </a:xfrm>
          <a:prstGeom prst="rect">
            <a:avLst/>
          </a:prstGeom>
          <a:noFill/>
          <a:ln/>
        </p:spPr>
        <p:txBody>
          <a:bodyPr wrap="square" lIns="0" tIns="0" rIns="0" bIns="0" rtlCol="0" anchor="ctr"/>
          <a:lstStyle/>
          <a:p>
            <a:pPr indent="0" marL="0">
              <a:buNone/>
            </a:pPr>
            <a:r>
              <a:rPr lang="en-US" sz="2000" dirty="0">
                <a:solidFill>
                  <a:schemeClr val="bg2"/>
                </a:solidFill>
              </a:rPr>
              <a:t>An AI-powered expense tracker built with Firebase, FastAPI and Groq</a:t>
            </a:r>
            <a:endParaRPr lang="en-US" sz="2000" dirty="0"/>
          </a:p>
        </p:txBody>
      </p:sp>
      <p:sp>
        <p:nvSpPr>
          <p:cNvPr id="7" name="Presenter"/>
          <p:cNvSpPr txBox="1"/>
          <p:nvPr/>
        </p:nvSpPr>
        <p:spPr>
          <a:xfrm>
            <a:off x="548640" y="3840480"/>
            <a:ext cx="5486400" cy="640080"/>
          </a:xfrm>
          <a:prstGeom prst="rect">
            <a:avLst/>
          </a:prstGeom>
          <a:noFill/>
          <a:ln/>
        </p:spPr>
        <p:txBody>
          <a:bodyPr wrap="square" lIns="0" tIns="0" rIns="0" bIns="0" rtlCol="0" anchor="ctr"/>
          <a:lstStyle/>
          <a:p>
            <a:pPr indent="0" marL="0">
              <a:buNone/>
            </a:pPr>
            <a:r>
              <a:rPr lang="en-US" sz="1500" b="1" dirty="0">
                <a:solidFill>
                  <a:schemeClr val="bg1"/>
                </a:solidFill>
              </a:rPr>
              <a:t>Anushay Ayat</a:t>
            </a:r>
            <a:endParaRPr lang="en-US" sz="1500" dirty="0"/>
          </a:p>
          <a:p>
            <a:pPr indent="0" marL="0">
              <a:buNone/>
            </a:pPr>
            <a:r>
              <a:rPr lang="en-US" sz="1500" dirty="0">
                <a:solidFill>
                  <a:schemeClr val="bg1"/>
                </a:solidFill>
              </a:rPr>
              <a:t>AI and Data Science  |  SMIT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Why BudgetBuddy AI?</a:t>
            </a:r>
            <a:endParaRPr lang="en-US" sz="3000" dirty="0"/>
          </a:p>
        </p:txBody>
      </p:sp>
      <p:sp>
        <p:nvSpPr>
          <p:cNvPr id="3" name="Card 1"/>
          <p:cNvSpPr/>
          <p:nvPr/>
        </p:nvSpPr>
        <p:spPr>
          <a:xfrm>
            <a:off x="457200" y="1280160"/>
            <a:ext cx="2606040" cy="2286000"/>
          </a:xfrm>
          <a:prstGeom prst="roundRect">
            <a:avLst>
              <a:gd name="adj" fmla="val 4800"/>
            </a:avLst>
          </a:prstGeom>
          <a:solidFill>
            <a:schemeClr val="bg2"/>
          </a:solidFill>
          <a:ln w="12700">
            <a:solidFill>
              <a:schemeClr val="bg2"/>
            </a:solidFill>
            <a:prstDash val="solid"/>
          </a:ln>
        </p:spPr>
      </p:sp>
      <p:sp>
        <p:nvSpPr>
          <p:cNvPr id="4" name="Icon 1 circle"/>
          <p:cNvSpPr/>
          <p:nvPr/>
        </p:nvSpPr>
        <p:spPr>
          <a:xfrm>
            <a:off x="685800" y="1508760"/>
            <a:ext cx="640080" cy="640080"/>
          </a:xfrm>
          <a:prstGeom prst="ellipse">
            <a:avLst/>
          </a:prstGeom>
          <a:solidFill>
            <a:schemeClr val="accent1"/>
          </a:solidFill>
          <a:ln w="12700">
            <a:solidFill>
              <a:schemeClr val="accent1"/>
            </a:solidFill>
            <a:prstDash val="solid"/>
          </a:ln>
        </p:spPr>
      </p:sp>
      <p:pic>
        <p:nvPicPr>
          <p:cNvPr id="5" name="Icon 1 icon" descr="Icon 1">    </p:cNvPr>
          <p:cNvPicPr>
            <a:picLocks noChangeAspect="1"/>
          </p:cNvPicPr>
          <p:nvPr/>
        </p:nvPicPr>
        <p:blipFill>
          <a:blip r:embed="rId1"/>
          <a:stretch>
            <a:fillRect/>
          </a:stretch>
        </p:blipFill>
        <p:spPr>
          <a:xfrm>
            <a:off x="852221" y="1675181"/>
            <a:ext cx="307238" cy="307238"/>
          </a:xfrm>
          <a:prstGeom prst="rect">
            <a:avLst/>
          </a:prstGeom>
        </p:spPr>
      </p:pic>
      <p:sp>
        <p:nvSpPr>
          <p:cNvPr id="6" name="Card head 1"/>
          <p:cNvSpPr txBox="1"/>
          <p:nvPr/>
        </p:nvSpPr>
        <p:spPr>
          <a:xfrm>
            <a:off x="685800" y="2286000"/>
            <a:ext cx="2194560" cy="365760"/>
          </a:xfrm>
          <a:prstGeom prst="rect">
            <a:avLst/>
          </a:prstGeom>
          <a:noFill/>
          <a:ln/>
        </p:spPr>
        <p:txBody>
          <a:bodyPr wrap="square" lIns="0" tIns="0" rIns="0" bIns="0" rtlCol="0" anchor="ctr"/>
          <a:lstStyle/>
          <a:p>
            <a:pPr indent="0" marL="0">
              <a:buNone/>
            </a:pPr>
            <a:r>
              <a:rPr lang="en-US" sz="1700" b="1" dirty="0">
                <a:solidFill>
                  <a:schemeClr val="tx2"/>
                </a:solidFill>
              </a:rPr>
              <a:t>Hard to keep up</a:t>
            </a:r>
            <a:endParaRPr lang="en-US" sz="1700" dirty="0"/>
          </a:p>
        </p:txBody>
      </p:sp>
      <p:sp>
        <p:nvSpPr>
          <p:cNvPr id="7" name="Card text 1"/>
          <p:cNvSpPr txBox="1"/>
          <p:nvPr/>
        </p:nvSpPr>
        <p:spPr>
          <a:xfrm>
            <a:off x="685800" y="2697480"/>
            <a:ext cx="2194560" cy="777240"/>
          </a:xfrm>
          <a:prstGeom prst="rect">
            <a:avLst/>
          </a:prstGeom>
          <a:noFill/>
          <a:ln/>
        </p:spPr>
        <p:txBody>
          <a:bodyPr wrap="square" lIns="0" tIns="0" rIns="0" bIns="0" rtlCol="0" anchor="t"/>
          <a:lstStyle/>
          <a:p>
            <a:pPr indent="0" marL="0">
              <a:buNone/>
            </a:pPr>
            <a:r>
              <a:rPr lang="en-US" sz="1300" dirty="0">
                <a:solidFill>
                  <a:schemeClr val="tx1"/>
                </a:solidFill>
              </a:rPr>
              <a:t>Notes and spreadsheets are easy to start and quickly abandoned.</a:t>
            </a:r>
            <a:endParaRPr lang="en-US" sz="1300" dirty="0"/>
          </a:p>
        </p:txBody>
      </p:sp>
      <p:sp>
        <p:nvSpPr>
          <p:cNvPr id="8" name="Card 2"/>
          <p:cNvSpPr/>
          <p:nvPr/>
        </p:nvSpPr>
        <p:spPr>
          <a:xfrm>
            <a:off x="3246120" y="1280160"/>
            <a:ext cx="2606040" cy="2286000"/>
          </a:xfrm>
          <a:prstGeom prst="roundRect">
            <a:avLst>
              <a:gd name="adj" fmla="val 4800"/>
            </a:avLst>
          </a:prstGeom>
          <a:solidFill>
            <a:schemeClr val="bg2"/>
          </a:solidFill>
          <a:ln w="12700">
            <a:solidFill>
              <a:schemeClr val="bg2"/>
            </a:solidFill>
            <a:prstDash val="solid"/>
          </a:ln>
        </p:spPr>
      </p:sp>
      <p:sp>
        <p:nvSpPr>
          <p:cNvPr id="9" name="Icon 2 circle"/>
          <p:cNvSpPr/>
          <p:nvPr/>
        </p:nvSpPr>
        <p:spPr>
          <a:xfrm>
            <a:off x="3474720" y="1508760"/>
            <a:ext cx="640080" cy="640080"/>
          </a:xfrm>
          <a:prstGeom prst="ellipse">
            <a:avLst/>
          </a:prstGeom>
          <a:solidFill>
            <a:schemeClr val="accent1"/>
          </a:solidFill>
          <a:ln w="12700">
            <a:solidFill>
              <a:schemeClr val="accent1"/>
            </a:solidFill>
            <a:prstDash val="solid"/>
          </a:ln>
        </p:spPr>
      </p:sp>
      <p:pic>
        <p:nvPicPr>
          <p:cNvPr id="10" name="Icon 2 icon" descr="Icon 2">    </p:cNvPr>
          <p:cNvPicPr>
            <a:picLocks noChangeAspect="1"/>
          </p:cNvPicPr>
          <p:nvPr/>
        </p:nvPicPr>
        <p:blipFill>
          <a:blip r:embed="rId2"/>
          <a:stretch>
            <a:fillRect/>
          </a:stretch>
        </p:blipFill>
        <p:spPr>
          <a:xfrm>
            <a:off x="3641141" y="1675181"/>
            <a:ext cx="307238" cy="307238"/>
          </a:xfrm>
          <a:prstGeom prst="rect">
            <a:avLst/>
          </a:prstGeom>
        </p:spPr>
      </p:pic>
      <p:sp>
        <p:nvSpPr>
          <p:cNvPr id="11" name="Card head 2"/>
          <p:cNvSpPr txBox="1"/>
          <p:nvPr/>
        </p:nvSpPr>
        <p:spPr>
          <a:xfrm>
            <a:off x="3474720" y="2286000"/>
            <a:ext cx="2194560" cy="365760"/>
          </a:xfrm>
          <a:prstGeom prst="rect">
            <a:avLst/>
          </a:prstGeom>
          <a:noFill/>
          <a:ln/>
        </p:spPr>
        <p:txBody>
          <a:bodyPr wrap="square" lIns="0" tIns="0" rIns="0" bIns="0" rtlCol="0" anchor="ctr"/>
          <a:lstStyle/>
          <a:p>
            <a:pPr indent="0" marL="0">
              <a:buNone/>
            </a:pPr>
            <a:r>
              <a:rPr lang="en-US" sz="1700" b="1" dirty="0">
                <a:solidFill>
                  <a:schemeClr val="tx2"/>
                </a:solidFill>
              </a:rPr>
              <a:t>Local habits ignored</a:t>
            </a:r>
            <a:endParaRPr lang="en-US" sz="1700" dirty="0"/>
          </a:p>
        </p:txBody>
      </p:sp>
      <p:sp>
        <p:nvSpPr>
          <p:cNvPr id="12" name="Card text 2"/>
          <p:cNvSpPr txBox="1"/>
          <p:nvPr/>
        </p:nvSpPr>
        <p:spPr>
          <a:xfrm>
            <a:off x="3474720" y="2697480"/>
            <a:ext cx="2194560" cy="777240"/>
          </a:xfrm>
          <a:prstGeom prst="rect">
            <a:avLst/>
          </a:prstGeom>
          <a:noFill/>
          <a:ln/>
        </p:spPr>
        <p:txBody>
          <a:bodyPr wrap="square" lIns="0" tIns="0" rIns="0" bIns="0" rtlCol="0" anchor="t"/>
          <a:lstStyle/>
          <a:p>
            <a:pPr indent="0" marL="0">
              <a:buNone/>
            </a:pPr>
            <a:r>
              <a:rPr lang="en-US" sz="1300" dirty="0">
                <a:solidFill>
                  <a:schemeClr val="tx1"/>
                </a:solidFill>
              </a:rPr>
              <a:t>JazzCash, Easypaisa, bank SMS alerts and Roman Urdu notes are everyday reality.</a:t>
            </a:r>
            <a:endParaRPr lang="en-US" sz="1300" dirty="0"/>
          </a:p>
        </p:txBody>
      </p:sp>
      <p:sp>
        <p:nvSpPr>
          <p:cNvPr id="13" name="Card 3"/>
          <p:cNvSpPr/>
          <p:nvPr/>
        </p:nvSpPr>
        <p:spPr>
          <a:xfrm>
            <a:off x="6035040" y="1280160"/>
            <a:ext cx="2606040" cy="2286000"/>
          </a:xfrm>
          <a:prstGeom prst="roundRect">
            <a:avLst>
              <a:gd name="adj" fmla="val 4800"/>
            </a:avLst>
          </a:prstGeom>
          <a:solidFill>
            <a:schemeClr val="bg2"/>
          </a:solidFill>
          <a:ln w="12700">
            <a:solidFill>
              <a:schemeClr val="bg2"/>
            </a:solidFill>
            <a:prstDash val="solid"/>
          </a:ln>
        </p:spPr>
      </p:sp>
      <p:sp>
        <p:nvSpPr>
          <p:cNvPr id="14" name="Icon 3 circle"/>
          <p:cNvSpPr/>
          <p:nvPr/>
        </p:nvSpPr>
        <p:spPr>
          <a:xfrm>
            <a:off x="6263640" y="1508760"/>
            <a:ext cx="640080" cy="640080"/>
          </a:xfrm>
          <a:prstGeom prst="ellipse">
            <a:avLst/>
          </a:prstGeom>
          <a:solidFill>
            <a:schemeClr val="accent1"/>
          </a:solidFill>
          <a:ln w="12700">
            <a:solidFill>
              <a:schemeClr val="accent1"/>
            </a:solidFill>
            <a:prstDash val="solid"/>
          </a:ln>
        </p:spPr>
      </p:sp>
      <p:pic>
        <p:nvPicPr>
          <p:cNvPr id="15" name="Icon 3 icon" descr="Icon 3">    </p:cNvPr>
          <p:cNvPicPr>
            <a:picLocks noChangeAspect="1"/>
          </p:cNvPicPr>
          <p:nvPr/>
        </p:nvPicPr>
        <p:blipFill>
          <a:blip r:embed="rId3"/>
          <a:stretch>
            <a:fillRect/>
          </a:stretch>
        </p:blipFill>
        <p:spPr>
          <a:xfrm>
            <a:off x="6430061" y="1675181"/>
            <a:ext cx="307238" cy="307238"/>
          </a:xfrm>
          <a:prstGeom prst="rect">
            <a:avLst/>
          </a:prstGeom>
        </p:spPr>
      </p:pic>
      <p:sp>
        <p:nvSpPr>
          <p:cNvPr id="16" name="Card head 3"/>
          <p:cNvSpPr txBox="1"/>
          <p:nvPr/>
        </p:nvSpPr>
        <p:spPr>
          <a:xfrm>
            <a:off x="6263640" y="2286000"/>
            <a:ext cx="2194560" cy="365760"/>
          </a:xfrm>
          <a:prstGeom prst="rect">
            <a:avLst/>
          </a:prstGeom>
          <a:noFill/>
          <a:ln/>
        </p:spPr>
        <p:txBody>
          <a:bodyPr wrap="square" lIns="0" tIns="0" rIns="0" bIns="0" rtlCol="0" anchor="ctr"/>
          <a:lstStyle/>
          <a:p>
            <a:pPr indent="0" marL="0">
              <a:buNone/>
            </a:pPr>
            <a:r>
              <a:rPr lang="en-US" sz="1700" b="1" dirty="0">
                <a:solidFill>
                  <a:schemeClr val="tx2"/>
                </a:solidFill>
              </a:rPr>
              <a:t>Privacy and secrets</a:t>
            </a:r>
            <a:endParaRPr lang="en-US" sz="1700" dirty="0"/>
          </a:p>
        </p:txBody>
      </p:sp>
      <p:sp>
        <p:nvSpPr>
          <p:cNvPr id="17" name="Card text 3"/>
          <p:cNvSpPr txBox="1"/>
          <p:nvPr/>
        </p:nvSpPr>
        <p:spPr>
          <a:xfrm>
            <a:off x="6263640" y="2697480"/>
            <a:ext cx="2194560" cy="777240"/>
          </a:xfrm>
          <a:prstGeom prst="rect">
            <a:avLst/>
          </a:prstGeom>
          <a:noFill/>
          <a:ln/>
        </p:spPr>
        <p:txBody>
          <a:bodyPr wrap="square" lIns="0" tIns="0" rIns="0" bIns="0" rtlCol="0" anchor="t"/>
          <a:lstStyle/>
          <a:p>
            <a:pPr indent="0" marL="0">
              <a:buNone/>
            </a:pPr>
            <a:r>
              <a:rPr lang="en-US" sz="1300" dirty="0">
                <a:solidFill>
                  <a:schemeClr val="tx1"/>
                </a:solidFill>
              </a:rPr>
              <a:t>Financial data must stay private and API keys must never reach the browser.</a:t>
            </a:r>
            <a:endParaRPr lang="en-US" sz="1300" dirty="0"/>
          </a:p>
        </p:txBody>
      </p:sp>
      <p:sp>
        <p:nvSpPr>
          <p:cNvPr id="18" name="Goal statement"/>
          <p:cNvSpPr txBox="1"/>
          <p:nvPr/>
        </p:nvSpPr>
        <p:spPr>
          <a:xfrm>
            <a:off x="457200" y="3840480"/>
            <a:ext cx="8229600" cy="548640"/>
          </a:xfrm>
          <a:prstGeom prst="rect">
            <a:avLst/>
          </a:prstGeom>
          <a:noFill/>
          <a:ln/>
        </p:spPr>
        <p:txBody>
          <a:bodyPr wrap="square" lIns="0" tIns="0" rIns="0" bIns="0" rtlCol="0" anchor="ctr"/>
          <a:lstStyle/>
          <a:p>
            <a:pPr indent="0" marL="0">
              <a:buNone/>
            </a:pPr>
            <a:r>
              <a:rPr lang="en-US" sz="1600" b="1" dirty="0">
                <a:solidFill>
                  <a:schemeClr val="accent1"/>
                </a:solidFill>
              </a:rPr>
              <a:t>Goal: </a:t>
            </a:r>
            <a:pPr indent="0" marL="0">
              <a:buNone/>
            </a:pPr>
            <a:r>
              <a:rPr lang="en-US" sz="1600" dirty="0">
                <a:solidFill>
                  <a:schemeClr val="tx2"/>
                </a:solidFill>
              </a:rPr>
              <a:t>record spending in seconds, in your own words, and get answers from your own data.</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What it does</a:t>
            </a:r>
            <a:endParaRPr lang="en-US" sz="3000" dirty="0"/>
          </a:p>
        </p:txBody>
      </p:sp>
      <p:sp>
        <p:nvSpPr>
          <p:cNvPr id="3" name="Feature card 1"/>
          <p:cNvSpPr/>
          <p:nvPr/>
        </p:nvSpPr>
        <p:spPr>
          <a:xfrm>
            <a:off x="457200" y="1234440"/>
            <a:ext cx="2606040" cy="1463040"/>
          </a:xfrm>
          <a:prstGeom prst="roundRect">
            <a:avLst>
              <a:gd name="adj" fmla="val 7500"/>
            </a:avLst>
          </a:prstGeom>
          <a:solidFill>
            <a:schemeClr val="bg2"/>
          </a:solidFill>
          <a:ln w="12700">
            <a:solidFill>
              <a:schemeClr val="bg2"/>
            </a:solidFill>
            <a:prstDash val="solid"/>
          </a:ln>
        </p:spPr>
      </p:sp>
      <p:sp>
        <p:nvSpPr>
          <p:cNvPr id="4" name="Feature icon 1 circle"/>
          <p:cNvSpPr/>
          <p:nvPr/>
        </p:nvSpPr>
        <p:spPr>
          <a:xfrm>
            <a:off x="640080" y="1435608"/>
            <a:ext cx="502920" cy="502920"/>
          </a:xfrm>
          <a:prstGeom prst="ellipse">
            <a:avLst/>
          </a:prstGeom>
          <a:solidFill>
            <a:schemeClr val="accent1"/>
          </a:solidFill>
          <a:ln w="12700">
            <a:solidFill>
              <a:schemeClr val="accent1"/>
            </a:solidFill>
            <a:prstDash val="solid"/>
          </a:ln>
        </p:spPr>
      </p:sp>
      <p:pic>
        <p:nvPicPr>
          <p:cNvPr id="5" name="Feature icon 1 icon" descr="Feature icon 1">    </p:cNvPr>
          <p:cNvPicPr>
            <a:picLocks noChangeAspect="1"/>
          </p:cNvPicPr>
          <p:nvPr/>
        </p:nvPicPr>
        <p:blipFill>
          <a:blip r:embed="rId1"/>
          <a:stretch>
            <a:fillRect/>
          </a:stretch>
        </p:blipFill>
        <p:spPr>
          <a:xfrm>
            <a:off x="770839" y="1566367"/>
            <a:ext cx="241402" cy="241402"/>
          </a:xfrm>
          <a:prstGeom prst="rect">
            <a:avLst/>
          </a:prstGeom>
        </p:spPr>
      </p:pic>
      <p:sp>
        <p:nvSpPr>
          <p:cNvPr id="6" name="Feature head 1"/>
          <p:cNvSpPr txBox="1"/>
          <p:nvPr/>
        </p:nvSpPr>
        <p:spPr>
          <a:xfrm>
            <a:off x="1280160" y="1435608"/>
            <a:ext cx="1691640" cy="502920"/>
          </a:xfrm>
          <a:prstGeom prst="rect">
            <a:avLst/>
          </a:prstGeom>
          <a:noFill/>
          <a:ln/>
        </p:spPr>
        <p:txBody>
          <a:bodyPr wrap="square" lIns="0" tIns="0" rIns="0" bIns="0" rtlCol="0" anchor="ctr"/>
          <a:lstStyle/>
          <a:p>
            <a:pPr indent="0" marL="0">
              <a:buNone/>
            </a:pPr>
            <a:r>
              <a:rPr lang="en-US" sz="1500" b="1" dirty="0">
                <a:solidFill>
                  <a:schemeClr val="tx2"/>
                </a:solidFill>
              </a:rPr>
              <a:t>Expense tracking</a:t>
            </a:r>
            <a:endParaRPr lang="en-US" sz="1500" dirty="0"/>
          </a:p>
        </p:txBody>
      </p:sp>
      <p:sp>
        <p:nvSpPr>
          <p:cNvPr id="7" name="Feature text 1"/>
          <p:cNvSpPr txBox="1"/>
          <p:nvPr/>
        </p:nvSpPr>
        <p:spPr>
          <a:xfrm>
            <a:off x="640080" y="2057400"/>
            <a:ext cx="2286000" cy="548640"/>
          </a:xfrm>
          <a:prstGeom prst="rect">
            <a:avLst/>
          </a:prstGeom>
          <a:noFill/>
          <a:ln/>
        </p:spPr>
        <p:txBody>
          <a:bodyPr wrap="square" lIns="0" tIns="0" rIns="0" bIns="0" rtlCol="0" anchor="t"/>
          <a:lstStyle/>
          <a:p>
            <a:pPr indent="0" marL="0">
              <a:buNone/>
            </a:pPr>
            <a:r>
              <a:rPr lang="en-US" sz="1200" dirty="0">
                <a:solidFill>
                  <a:schemeClr val="tx1"/>
                </a:solidFill>
              </a:rPr>
              <a:t>Form, table, edit, delete with Undo, live totals</a:t>
            </a:r>
            <a:endParaRPr lang="en-US" sz="1200" dirty="0"/>
          </a:p>
        </p:txBody>
      </p:sp>
      <p:sp>
        <p:nvSpPr>
          <p:cNvPr id="8" name="Feature card 2"/>
          <p:cNvSpPr/>
          <p:nvPr/>
        </p:nvSpPr>
        <p:spPr>
          <a:xfrm>
            <a:off x="3246120" y="1234440"/>
            <a:ext cx="2606040" cy="1463040"/>
          </a:xfrm>
          <a:prstGeom prst="roundRect">
            <a:avLst>
              <a:gd name="adj" fmla="val 7500"/>
            </a:avLst>
          </a:prstGeom>
          <a:solidFill>
            <a:schemeClr val="bg2"/>
          </a:solidFill>
          <a:ln w="12700">
            <a:solidFill>
              <a:schemeClr val="bg2"/>
            </a:solidFill>
            <a:prstDash val="solid"/>
          </a:ln>
        </p:spPr>
      </p:sp>
      <p:sp>
        <p:nvSpPr>
          <p:cNvPr id="9" name="Feature icon 2 circle"/>
          <p:cNvSpPr/>
          <p:nvPr/>
        </p:nvSpPr>
        <p:spPr>
          <a:xfrm>
            <a:off x="3429000" y="1435608"/>
            <a:ext cx="502920" cy="502920"/>
          </a:xfrm>
          <a:prstGeom prst="ellipse">
            <a:avLst/>
          </a:prstGeom>
          <a:solidFill>
            <a:schemeClr val="accent1"/>
          </a:solidFill>
          <a:ln w="12700">
            <a:solidFill>
              <a:schemeClr val="accent1"/>
            </a:solidFill>
            <a:prstDash val="solid"/>
          </a:ln>
        </p:spPr>
      </p:sp>
      <p:pic>
        <p:nvPicPr>
          <p:cNvPr id="10" name="Feature icon 2 icon" descr="Feature icon 2">    </p:cNvPr>
          <p:cNvPicPr>
            <a:picLocks noChangeAspect="1"/>
          </p:cNvPicPr>
          <p:nvPr/>
        </p:nvPicPr>
        <p:blipFill>
          <a:blip r:embed="rId2"/>
          <a:stretch>
            <a:fillRect/>
          </a:stretch>
        </p:blipFill>
        <p:spPr>
          <a:xfrm>
            <a:off x="3559759" y="1566367"/>
            <a:ext cx="241402" cy="241402"/>
          </a:xfrm>
          <a:prstGeom prst="rect">
            <a:avLst/>
          </a:prstGeom>
        </p:spPr>
      </p:pic>
      <p:sp>
        <p:nvSpPr>
          <p:cNvPr id="11" name="Feature head 2"/>
          <p:cNvSpPr txBox="1"/>
          <p:nvPr/>
        </p:nvSpPr>
        <p:spPr>
          <a:xfrm>
            <a:off x="4069080" y="1435608"/>
            <a:ext cx="1691640" cy="502920"/>
          </a:xfrm>
          <a:prstGeom prst="rect">
            <a:avLst/>
          </a:prstGeom>
          <a:noFill/>
          <a:ln/>
        </p:spPr>
        <p:txBody>
          <a:bodyPr wrap="square" lIns="0" tIns="0" rIns="0" bIns="0" rtlCol="0" anchor="ctr"/>
          <a:lstStyle/>
          <a:p>
            <a:pPr indent="0" marL="0">
              <a:buNone/>
            </a:pPr>
            <a:r>
              <a:rPr lang="en-US" sz="1500" b="1" dirty="0">
                <a:solidFill>
                  <a:schemeClr val="tx2"/>
                </a:solidFill>
              </a:rPr>
              <a:t>AI quick add</a:t>
            </a:r>
            <a:endParaRPr lang="en-US" sz="1500" dirty="0"/>
          </a:p>
        </p:txBody>
      </p:sp>
      <p:sp>
        <p:nvSpPr>
          <p:cNvPr id="12" name="Feature text 2"/>
          <p:cNvSpPr txBox="1"/>
          <p:nvPr/>
        </p:nvSpPr>
        <p:spPr>
          <a:xfrm>
            <a:off x="3429000" y="2057400"/>
            <a:ext cx="2286000" cy="548640"/>
          </a:xfrm>
          <a:prstGeom prst="rect">
            <a:avLst/>
          </a:prstGeom>
          <a:noFill/>
          <a:ln/>
        </p:spPr>
        <p:txBody>
          <a:bodyPr wrap="square" lIns="0" tIns="0" rIns="0" bIns="0" rtlCol="0" anchor="t"/>
          <a:lstStyle/>
          <a:p>
            <a:pPr indent="0" marL="0">
              <a:buNone/>
            </a:pPr>
            <a:r>
              <a:rPr lang="en-US" sz="1200" dirty="0">
                <a:solidFill>
                  <a:schemeClr val="tx1"/>
                </a:solidFill>
              </a:rPr>
              <a:t>Type or paste an SMS; AI fills the form</a:t>
            </a:r>
            <a:endParaRPr lang="en-US" sz="1200" dirty="0"/>
          </a:p>
        </p:txBody>
      </p:sp>
      <p:sp>
        <p:nvSpPr>
          <p:cNvPr id="13" name="Feature card 3"/>
          <p:cNvSpPr/>
          <p:nvPr/>
        </p:nvSpPr>
        <p:spPr>
          <a:xfrm>
            <a:off x="6035040" y="1234440"/>
            <a:ext cx="2606040" cy="1463040"/>
          </a:xfrm>
          <a:prstGeom prst="roundRect">
            <a:avLst>
              <a:gd name="adj" fmla="val 7500"/>
            </a:avLst>
          </a:prstGeom>
          <a:solidFill>
            <a:schemeClr val="bg2"/>
          </a:solidFill>
          <a:ln w="12700">
            <a:solidFill>
              <a:schemeClr val="bg2"/>
            </a:solidFill>
            <a:prstDash val="solid"/>
          </a:ln>
        </p:spPr>
      </p:sp>
      <p:sp>
        <p:nvSpPr>
          <p:cNvPr id="14" name="Feature icon 3 circle"/>
          <p:cNvSpPr/>
          <p:nvPr/>
        </p:nvSpPr>
        <p:spPr>
          <a:xfrm>
            <a:off x="6217920" y="1435608"/>
            <a:ext cx="502920" cy="502920"/>
          </a:xfrm>
          <a:prstGeom prst="ellipse">
            <a:avLst/>
          </a:prstGeom>
          <a:solidFill>
            <a:schemeClr val="accent1"/>
          </a:solidFill>
          <a:ln w="12700">
            <a:solidFill>
              <a:schemeClr val="accent1"/>
            </a:solidFill>
            <a:prstDash val="solid"/>
          </a:ln>
        </p:spPr>
      </p:sp>
      <p:pic>
        <p:nvPicPr>
          <p:cNvPr id="15" name="Feature icon 3 icon" descr="Feature icon 3">    </p:cNvPr>
          <p:cNvPicPr>
            <a:picLocks noChangeAspect="1"/>
          </p:cNvPicPr>
          <p:nvPr/>
        </p:nvPicPr>
        <p:blipFill>
          <a:blip r:embed="rId3"/>
          <a:stretch>
            <a:fillRect/>
          </a:stretch>
        </p:blipFill>
        <p:spPr>
          <a:xfrm>
            <a:off x="6348679" y="1566367"/>
            <a:ext cx="241402" cy="241402"/>
          </a:xfrm>
          <a:prstGeom prst="rect">
            <a:avLst/>
          </a:prstGeom>
        </p:spPr>
      </p:pic>
      <p:sp>
        <p:nvSpPr>
          <p:cNvPr id="16" name="Feature head 3"/>
          <p:cNvSpPr txBox="1"/>
          <p:nvPr/>
        </p:nvSpPr>
        <p:spPr>
          <a:xfrm>
            <a:off x="6858000" y="1435608"/>
            <a:ext cx="1691640" cy="502920"/>
          </a:xfrm>
          <a:prstGeom prst="rect">
            <a:avLst/>
          </a:prstGeom>
          <a:noFill/>
          <a:ln/>
        </p:spPr>
        <p:txBody>
          <a:bodyPr wrap="square" lIns="0" tIns="0" rIns="0" bIns="0" rtlCol="0" anchor="ctr"/>
          <a:lstStyle/>
          <a:p>
            <a:pPr indent="0" marL="0">
              <a:buNone/>
            </a:pPr>
            <a:r>
              <a:rPr lang="en-US" sz="1500" b="1" dirty="0">
                <a:solidFill>
                  <a:schemeClr val="tx2"/>
                </a:solidFill>
              </a:rPr>
              <a:t>Ask your spending</a:t>
            </a:r>
            <a:endParaRPr lang="en-US" sz="1500" dirty="0"/>
          </a:p>
        </p:txBody>
      </p:sp>
      <p:sp>
        <p:nvSpPr>
          <p:cNvPr id="17" name="Feature text 3"/>
          <p:cNvSpPr txBox="1"/>
          <p:nvPr/>
        </p:nvSpPr>
        <p:spPr>
          <a:xfrm>
            <a:off x="6217920" y="2057400"/>
            <a:ext cx="2286000" cy="548640"/>
          </a:xfrm>
          <a:prstGeom prst="rect">
            <a:avLst/>
          </a:prstGeom>
          <a:noFill/>
          <a:ln/>
        </p:spPr>
        <p:txBody>
          <a:bodyPr wrap="square" lIns="0" tIns="0" rIns="0" bIns="0" rtlCol="0" anchor="t"/>
          <a:lstStyle/>
          <a:p>
            <a:pPr indent="0" marL="0">
              <a:buNone/>
            </a:pPr>
            <a:r>
              <a:rPr lang="en-US" sz="1200" dirty="0">
                <a:solidFill>
                  <a:schemeClr val="tx1"/>
                </a:solidFill>
              </a:rPr>
              <a:t>Plain-language questions about your own data</a:t>
            </a:r>
            <a:endParaRPr lang="en-US" sz="1200" dirty="0"/>
          </a:p>
        </p:txBody>
      </p:sp>
      <p:sp>
        <p:nvSpPr>
          <p:cNvPr id="18" name="Feature card 4"/>
          <p:cNvSpPr/>
          <p:nvPr/>
        </p:nvSpPr>
        <p:spPr>
          <a:xfrm>
            <a:off x="457200" y="2926080"/>
            <a:ext cx="2606040" cy="1463040"/>
          </a:xfrm>
          <a:prstGeom prst="roundRect">
            <a:avLst>
              <a:gd name="adj" fmla="val 7500"/>
            </a:avLst>
          </a:prstGeom>
          <a:solidFill>
            <a:schemeClr val="bg2"/>
          </a:solidFill>
          <a:ln w="12700">
            <a:solidFill>
              <a:schemeClr val="bg2"/>
            </a:solidFill>
            <a:prstDash val="solid"/>
          </a:ln>
        </p:spPr>
      </p:sp>
      <p:sp>
        <p:nvSpPr>
          <p:cNvPr id="19" name="Feature icon 4 circle"/>
          <p:cNvSpPr/>
          <p:nvPr/>
        </p:nvSpPr>
        <p:spPr>
          <a:xfrm>
            <a:off x="640080" y="3127248"/>
            <a:ext cx="502920" cy="502920"/>
          </a:xfrm>
          <a:prstGeom prst="ellipse">
            <a:avLst/>
          </a:prstGeom>
          <a:solidFill>
            <a:schemeClr val="accent1"/>
          </a:solidFill>
          <a:ln w="12700">
            <a:solidFill>
              <a:schemeClr val="accent1"/>
            </a:solidFill>
            <a:prstDash val="solid"/>
          </a:ln>
        </p:spPr>
      </p:sp>
      <p:pic>
        <p:nvPicPr>
          <p:cNvPr id="20" name="Feature icon 4 icon" descr="Feature icon 4">    </p:cNvPr>
          <p:cNvPicPr>
            <a:picLocks noChangeAspect="1"/>
          </p:cNvPicPr>
          <p:nvPr/>
        </p:nvPicPr>
        <p:blipFill>
          <a:blip r:embed="rId4"/>
          <a:stretch>
            <a:fillRect/>
          </a:stretch>
        </p:blipFill>
        <p:spPr>
          <a:xfrm>
            <a:off x="770839" y="3258007"/>
            <a:ext cx="241402" cy="241402"/>
          </a:xfrm>
          <a:prstGeom prst="rect">
            <a:avLst/>
          </a:prstGeom>
        </p:spPr>
      </p:pic>
      <p:sp>
        <p:nvSpPr>
          <p:cNvPr id="21" name="Feature head 4"/>
          <p:cNvSpPr txBox="1"/>
          <p:nvPr/>
        </p:nvSpPr>
        <p:spPr>
          <a:xfrm>
            <a:off x="1280160" y="3127248"/>
            <a:ext cx="1691640" cy="502920"/>
          </a:xfrm>
          <a:prstGeom prst="rect">
            <a:avLst/>
          </a:prstGeom>
          <a:noFill/>
          <a:ln/>
        </p:spPr>
        <p:txBody>
          <a:bodyPr wrap="square" lIns="0" tIns="0" rIns="0" bIns="0" rtlCol="0" anchor="ctr"/>
          <a:lstStyle/>
          <a:p>
            <a:pPr indent="0" marL="0">
              <a:buNone/>
            </a:pPr>
            <a:r>
              <a:rPr lang="en-US" sz="1500" b="1" dirty="0">
                <a:solidFill>
                  <a:schemeClr val="tx2"/>
                </a:solidFill>
              </a:rPr>
              <a:t>Budgets and charts</a:t>
            </a:r>
            <a:endParaRPr lang="en-US" sz="1500" dirty="0"/>
          </a:p>
        </p:txBody>
      </p:sp>
      <p:sp>
        <p:nvSpPr>
          <p:cNvPr id="22" name="Feature text 4"/>
          <p:cNvSpPr txBox="1"/>
          <p:nvPr/>
        </p:nvSpPr>
        <p:spPr>
          <a:xfrm>
            <a:off x="640080" y="3749040"/>
            <a:ext cx="2286000" cy="548640"/>
          </a:xfrm>
          <a:prstGeom prst="rect">
            <a:avLst/>
          </a:prstGeom>
          <a:noFill/>
          <a:ln/>
        </p:spPr>
        <p:txBody>
          <a:bodyPr wrap="square" lIns="0" tIns="0" rIns="0" bIns="0" rtlCol="0" anchor="t"/>
          <a:lstStyle/>
          <a:p>
            <a:pPr indent="0" marL="0">
              <a:buNone/>
            </a:pPr>
            <a:r>
              <a:rPr lang="en-US" sz="1200" dirty="0">
                <a:solidFill>
                  <a:schemeClr val="tx1"/>
                </a:solidFill>
              </a:rPr>
              <a:t>6-month chart, forecast, custom categories</a:t>
            </a:r>
            <a:endParaRPr lang="en-US" sz="1200" dirty="0"/>
          </a:p>
        </p:txBody>
      </p:sp>
      <p:sp>
        <p:nvSpPr>
          <p:cNvPr id="23" name="Feature card 5"/>
          <p:cNvSpPr/>
          <p:nvPr/>
        </p:nvSpPr>
        <p:spPr>
          <a:xfrm>
            <a:off x="3246120" y="2926080"/>
            <a:ext cx="2606040" cy="1463040"/>
          </a:xfrm>
          <a:prstGeom prst="roundRect">
            <a:avLst>
              <a:gd name="adj" fmla="val 7500"/>
            </a:avLst>
          </a:prstGeom>
          <a:solidFill>
            <a:schemeClr val="bg2"/>
          </a:solidFill>
          <a:ln w="12700">
            <a:solidFill>
              <a:schemeClr val="bg2"/>
            </a:solidFill>
            <a:prstDash val="solid"/>
          </a:ln>
        </p:spPr>
      </p:sp>
      <p:sp>
        <p:nvSpPr>
          <p:cNvPr id="24" name="Feature icon 5 circle"/>
          <p:cNvSpPr/>
          <p:nvPr/>
        </p:nvSpPr>
        <p:spPr>
          <a:xfrm>
            <a:off x="3429000" y="3127248"/>
            <a:ext cx="502920" cy="502920"/>
          </a:xfrm>
          <a:prstGeom prst="ellipse">
            <a:avLst/>
          </a:prstGeom>
          <a:solidFill>
            <a:schemeClr val="accent1"/>
          </a:solidFill>
          <a:ln w="12700">
            <a:solidFill>
              <a:schemeClr val="accent1"/>
            </a:solidFill>
            <a:prstDash val="solid"/>
          </a:ln>
        </p:spPr>
      </p:sp>
      <p:pic>
        <p:nvPicPr>
          <p:cNvPr id="25" name="Feature icon 5 icon" descr="Feature icon 5">    </p:cNvPr>
          <p:cNvPicPr>
            <a:picLocks noChangeAspect="1"/>
          </p:cNvPicPr>
          <p:nvPr/>
        </p:nvPicPr>
        <p:blipFill>
          <a:blip r:embed="rId5"/>
          <a:stretch>
            <a:fillRect/>
          </a:stretch>
        </p:blipFill>
        <p:spPr>
          <a:xfrm>
            <a:off x="3559759" y="3258007"/>
            <a:ext cx="241402" cy="241402"/>
          </a:xfrm>
          <a:prstGeom prst="rect">
            <a:avLst/>
          </a:prstGeom>
        </p:spPr>
      </p:pic>
      <p:sp>
        <p:nvSpPr>
          <p:cNvPr id="26" name="Feature head 5"/>
          <p:cNvSpPr txBox="1"/>
          <p:nvPr/>
        </p:nvSpPr>
        <p:spPr>
          <a:xfrm>
            <a:off x="4069080" y="3127248"/>
            <a:ext cx="1691640" cy="502920"/>
          </a:xfrm>
          <a:prstGeom prst="rect">
            <a:avLst/>
          </a:prstGeom>
          <a:noFill/>
          <a:ln/>
        </p:spPr>
        <p:txBody>
          <a:bodyPr wrap="square" lIns="0" tIns="0" rIns="0" bIns="0" rtlCol="0" anchor="ctr"/>
          <a:lstStyle/>
          <a:p>
            <a:pPr indent="0" marL="0">
              <a:buNone/>
            </a:pPr>
            <a:r>
              <a:rPr lang="en-US" sz="1500" b="1" dirty="0">
                <a:solidFill>
                  <a:schemeClr val="tx2"/>
                </a:solidFill>
              </a:rPr>
              <a:t>Wallets and bills</a:t>
            </a:r>
            <a:endParaRPr lang="en-US" sz="1500" dirty="0"/>
          </a:p>
        </p:txBody>
      </p:sp>
      <p:sp>
        <p:nvSpPr>
          <p:cNvPr id="27" name="Feature text 5"/>
          <p:cNvSpPr txBox="1"/>
          <p:nvPr/>
        </p:nvSpPr>
        <p:spPr>
          <a:xfrm>
            <a:off x="3429000" y="3749040"/>
            <a:ext cx="2286000" cy="548640"/>
          </a:xfrm>
          <a:prstGeom prst="rect">
            <a:avLst/>
          </a:prstGeom>
          <a:noFill/>
          <a:ln/>
        </p:spPr>
        <p:txBody>
          <a:bodyPr wrap="square" lIns="0" tIns="0" rIns="0" bIns="0" rtlCol="0" anchor="t"/>
          <a:lstStyle/>
          <a:p>
            <a:pPr indent="0" marL="0">
              <a:buNone/>
            </a:pPr>
            <a:r>
              <a:rPr lang="en-US" sz="1200" dirty="0">
                <a:solidFill>
                  <a:schemeClr val="tx1"/>
                </a:solidFill>
              </a:rPr>
              <a:t>Income, wallets, recurring bills, bill splitting</a:t>
            </a:r>
            <a:endParaRPr lang="en-US" sz="1200" dirty="0"/>
          </a:p>
        </p:txBody>
      </p:sp>
      <p:sp>
        <p:nvSpPr>
          <p:cNvPr id="28" name="Feature card 6"/>
          <p:cNvSpPr/>
          <p:nvPr/>
        </p:nvSpPr>
        <p:spPr>
          <a:xfrm>
            <a:off x="6035040" y="2926080"/>
            <a:ext cx="2606040" cy="1463040"/>
          </a:xfrm>
          <a:prstGeom prst="roundRect">
            <a:avLst>
              <a:gd name="adj" fmla="val 7500"/>
            </a:avLst>
          </a:prstGeom>
          <a:solidFill>
            <a:schemeClr val="bg2"/>
          </a:solidFill>
          <a:ln w="12700">
            <a:solidFill>
              <a:schemeClr val="bg2"/>
            </a:solidFill>
            <a:prstDash val="solid"/>
          </a:ln>
        </p:spPr>
      </p:sp>
      <p:sp>
        <p:nvSpPr>
          <p:cNvPr id="29" name="Feature icon 6 circle"/>
          <p:cNvSpPr/>
          <p:nvPr/>
        </p:nvSpPr>
        <p:spPr>
          <a:xfrm>
            <a:off x="6217920" y="3127248"/>
            <a:ext cx="502920" cy="502920"/>
          </a:xfrm>
          <a:prstGeom prst="ellipse">
            <a:avLst/>
          </a:prstGeom>
          <a:solidFill>
            <a:schemeClr val="accent1"/>
          </a:solidFill>
          <a:ln w="12700">
            <a:solidFill>
              <a:schemeClr val="accent1"/>
            </a:solidFill>
            <a:prstDash val="solid"/>
          </a:ln>
        </p:spPr>
      </p:sp>
      <p:pic>
        <p:nvPicPr>
          <p:cNvPr id="30" name="Feature icon 6 icon" descr="Feature icon 6">    </p:cNvPr>
          <p:cNvPicPr>
            <a:picLocks noChangeAspect="1"/>
          </p:cNvPicPr>
          <p:nvPr/>
        </p:nvPicPr>
        <p:blipFill>
          <a:blip r:embed="rId6"/>
          <a:stretch>
            <a:fillRect/>
          </a:stretch>
        </p:blipFill>
        <p:spPr>
          <a:xfrm>
            <a:off x="6348679" y="3258007"/>
            <a:ext cx="241402" cy="241402"/>
          </a:xfrm>
          <a:prstGeom prst="rect">
            <a:avLst/>
          </a:prstGeom>
        </p:spPr>
      </p:pic>
      <p:sp>
        <p:nvSpPr>
          <p:cNvPr id="31" name="Feature head 6"/>
          <p:cNvSpPr txBox="1"/>
          <p:nvPr/>
        </p:nvSpPr>
        <p:spPr>
          <a:xfrm>
            <a:off x="6858000" y="3127248"/>
            <a:ext cx="1691640" cy="502920"/>
          </a:xfrm>
          <a:prstGeom prst="rect">
            <a:avLst/>
          </a:prstGeom>
          <a:noFill/>
          <a:ln/>
        </p:spPr>
        <p:txBody>
          <a:bodyPr wrap="square" lIns="0" tIns="0" rIns="0" bIns="0" rtlCol="0" anchor="ctr"/>
          <a:lstStyle/>
          <a:p>
            <a:pPr indent="0" marL="0">
              <a:buNone/>
            </a:pPr>
            <a:r>
              <a:rPr lang="en-US" sz="1500" b="1" dirty="0">
                <a:solidFill>
                  <a:schemeClr val="tx2"/>
                </a:solidFill>
              </a:rPr>
              <a:t>Offline and Urdu</a:t>
            </a:r>
            <a:endParaRPr lang="en-US" sz="1500" dirty="0"/>
          </a:p>
        </p:txBody>
      </p:sp>
      <p:sp>
        <p:nvSpPr>
          <p:cNvPr id="32" name="Feature text 6"/>
          <p:cNvSpPr txBox="1"/>
          <p:nvPr/>
        </p:nvSpPr>
        <p:spPr>
          <a:xfrm>
            <a:off x="6217920" y="3749040"/>
            <a:ext cx="2286000" cy="548640"/>
          </a:xfrm>
          <a:prstGeom prst="rect">
            <a:avLst/>
          </a:prstGeom>
          <a:noFill/>
          <a:ln/>
        </p:spPr>
        <p:txBody>
          <a:bodyPr wrap="square" lIns="0" tIns="0" rIns="0" bIns="0" rtlCol="0" anchor="t"/>
          <a:lstStyle/>
          <a:p>
            <a:pPr indent="0" marL="0">
              <a:buNone/>
            </a:pPr>
            <a:r>
              <a:rPr lang="en-US" sz="1200" dirty="0">
                <a:solidFill>
                  <a:schemeClr val="tx1"/>
                </a:solidFill>
              </a:rPr>
              <a:t>Installable PWA, English and Urdu (RTL)</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Assignment requirements: all met</a:t>
            </a:r>
            <a:endParaRPr lang="en-US" sz="3000" dirty="0"/>
          </a:p>
        </p:txBody>
      </p:sp>
      <p:graphicFrame>
        <p:nvGraphicFramePr>
          <p:cNvPr id="5" name="Requirements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657600"/>
                <a:gridCol w="3566160"/>
                <a:gridCol w="1005840"/>
              </a:tblGrid>
              <a:tr h="393192">
                <a:tc>
                  <a:txBody>
                    <a:bodyPr/>
                    <a:lstStyle/>
                    <a:p>
                      <a:pPr indent="0" marL="0">
                        <a:buNone/>
                      </a:pPr>
                      <a:r>
                        <a:rPr lang="en-US" sz="1200" b="1" dirty="0">
                          <a:solidFill>
                            <a:schemeClr val="bg1"/>
                          </a:solidFill>
                        </a:rPr>
                        <a:t>Requirement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200" b="1" dirty="0">
                          <a:solidFill>
                            <a:schemeClr val="bg1"/>
                          </a:solidFill>
                        </a:rPr>
                        <a:t>Implementation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200" b="1" dirty="0">
                          <a:solidFill>
                            <a:schemeClr val="bg1"/>
                          </a:solidFill>
                        </a:rPr>
                        <a:t>Status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accent1"/>
                    </a:solidFill>
                  </a:tcPr>
                </a:tc>
              </a:tr>
              <a:tr h="393192">
                <a:tc>
                  <a:txBody>
                    <a:bodyPr/>
                    <a:lstStyle/>
                    <a:p>
                      <a:pPr indent="0" marL="0">
                        <a:buNone/>
                      </a:pPr>
                      <a:r>
                        <a:rPr lang="en-US" sz="1200" dirty="0">
                          <a:solidFill>
                            <a:schemeClr val="tx1"/>
                          </a:solidFill>
                        </a:rPr>
                        <a:t>AI Expense Tracker using Groq</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AI page via FastAPI /api/ai</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1"/>
                          </a:solidFill>
                        </a:rPr>
                        <a:t>Done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indent="0" marL="0">
                        <a:buNone/>
                      </a:pPr>
                      <a:r>
                        <a:rPr lang="en-US" sz="1200" dirty="0">
                          <a:solidFill>
                            <a:schemeClr val="tx1"/>
                          </a:solidFill>
                        </a:rPr>
                        <a:t>Form: Title, Amount, Category, Date, Add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Five required categories + custom ones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b="1" dirty="0">
                          <a:solidFill>
                            <a:schemeClr val="accent1"/>
                          </a:solidFill>
                        </a:rPr>
                        <a:t>Done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93192">
                <a:tc>
                  <a:txBody>
                    <a:bodyPr/>
                    <a:lstStyle/>
                    <a:p>
                      <a:pPr indent="0" marL="0">
                        <a:buNone/>
                      </a:pPr>
                      <a:r>
                        <a:rPr lang="en-US" sz="1200" dirty="0">
                          <a:solidFill>
                            <a:schemeClr val="tx1"/>
                          </a:solidFill>
                        </a:rPr>
                        <a:t>Store records in Firestore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users/{uid}/expenses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1"/>
                          </a:solidFill>
                        </a:rPr>
                        <a:t>Done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indent="0" marL="0">
                        <a:buNone/>
                      </a:pPr>
                      <a:r>
                        <a:rPr lang="en-US" sz="1200" dirty="0">
                          <a:solidFill>
                            <a:schemeClr val="tx1"/>
                          </a:solidFill>
                        </a:rPr>
                        <a:t>Table of saved expenses below form</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Real-time listener</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b="1" dirty="0">
                          <a:solidFill>
                            <a:schemeClr val="accent1"/>
                          </a:solidFill>
                        </a:rPr>
                        <a:t>Done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93192">
                <a:tc>
                  <a:txBody>
                    <a:bodyPr/>
                    <a:lstStyle/>
                    <a:p>
                      <a:pPr indent="0" marL="0">
                        <a:buNone/>
                      </a:pPr>
                      <a:r>
                        <a:rPr lang="en-US" sz="1200" dirty="0">
                          <a:solidFill>
                            <a:schemeClr val="tx1"/>
                          </a:solidFill>
                        </a:rPr>
                        <a:t>Delete button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With one-tap Undo</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1"/>
                          </a:solidFill>
                        </a:rPr>
                        <a:t>Done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indent="0" marL="0">
                        <a:buNone/>
                      </a:pPr>
                      <a:r>
                        <a:rPr lang="en-US" sz="1200" dirty="0">
                          <a:solidFill>
                            <a:schemeClr val="tx1"/>
                          </a:solidFill>
                        </a:rPr>
                        <a:t>Total count and total amount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Update instantly</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b="1" dirty="0">
                          <a:solidFill>
                            <a:schemeClr val="accent1"/>
                          </a:solidFill>
                        </a:rPr>
                        <a:t>Done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93192">
                <a:tc>
                  <a:txBody>
                    <a:bodyPr/>
                    <a:lstStyle/>
                    <a:p>
                      <a:pPr indent="0" marL="0">
                        <a:buNone/>
                      </a:pPr>
                      <a:r>
                        <a:rPr lang="en-US" sz="1200" dirty="0">
                          <a:solidFill>
                            <a:schemeClr val="tx1"/>
                          </a:solidFill>
                        </a:rPr>
                        <a:t>Deploy and share live link</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Firebase Hosting + Vercel</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1"/>
                          </a:solidFill>
                        </a:rPr>
                        <a:t>Done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System architecture</a:t>
            </a:r>
            <a:endParaRPr lang="en-US" sz="3000" dirty="0"/>
          </a:p>
        </p:txBody>
      </p:sp>
      <p:sp>
        <p:nvSpPr>
          <p:cNvPr id="3" name="Diagram panel"/>
          <p:cNvSpPr/>
          <p:nvPr/>
        </p:nvSpPr>
        <p:spPr>
          <a:xfrm>
            <a:off x="457200" y="1188720"/>
            <a:ext cx="5669280" cy="3383280"/>
          </a:xfrm>
          <a:prstGeom prst="roundRect">
            <a:avLst>
              <a:gd name="adj" fmla="val 3243"/>
            </a:avLst>
          </a:prstGeom>
          <a:solidFill>
            <a:schemeClr val="bg1"/>
          </a:solidFill>
          <a:ln w="12700">
            <a:solidFill>
              <a:schemeClr val="bg1"/>
            </a:solidFill>
            <a:prstDash val="solid"/>
          </a:ln>
        </p:spPr>
      </p:sp>
      <p:pic>
        <p:nvPicPr>
          <p:cNvPr id="4" name="Architecture diagram" descr="Architecture diagram: user, frontend, Firebase Auth, Firestore, FastAPI, Groq">    </p:cNvPr>
          <p:cNvPicPr>
            <a:picLocks noChangeAspect="1"/>
          </p:cNvPicPr>
          <p:nvPr/>
        </p:nvPicPr>
        <p:blipFill>
          <a:blip r:embed="rId1"/>
          <a:stretch>
            <a:fillRect/>
          </a:stretch>
        </p:blipFill>
        <p:spPr>
          <a:xfrm>
            <a:off x="548640" y="1512097"/>
            <a:ext cx="5486400" cy="2736526"/>
          </a:xfrm>
          <a:prstGeom prst="rect">
            <a:avLst/>
          </a:prstGeom>
        </p:spPr>
      </p:pic>
      <p:sp>
        <p:nvSpPr>
          <p:cNvPr id="5" name="Step badge 1"/>
          <p:cNvSpPr/>
          <p:nvPr/>
        </p:nvSpPr>
        <p:spPr>
          <a:xfrm>
            <a:off x="6400800" y="1234440"/>
            <a:ext cx="457200" cy="457200"/>
          </a:xfrm>
          <a:prstGeom prst="ellipse">
            <a:avLst/>
          </a:prstGeom>
          <a:solidFill>
            <a:schemeClr val="accent1"/>
          </a:solidFill>
          <a:ln w="12700">
            <a:solidFill>
              <a:schemeClr val="accent1"/>
            </a:solidFill>
            <a:prstDash val="solid"/>
          </a:ln>
        </p:spPr>
      </p:sp>
      <p:sp>
        <p:nvSpPr>
          <p:cNvPr id="6" name="Step number 1"/>
          <p:cNvSpPr txBox="1"/>
          <p:nvPr/>
        </p:nvSpPr>
        <p:spPr>
          <a:xfrm>
            <a:off x="640080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Step head 1"/>
          <p:cNvSpPr txBox="1"/>
          <p:nvPr/>
        </p:nvSpPr>
        <p:spPr>
          <a:xfrm>
            <a:off x="6995160" y="1216152"/>
            <a:ext cx="1737360" cy="274320"/>
          </a:xfrm>
          <a:prstGeom prst="rect">
            <a:avLst/>
          </a:prstGeom>
          <a:noFill/>
          <a:ln/>
        </p:spPr>
        <p:txBody>
          <a:bodyPr wrap="square" lIns="0" tIns="0" rIns="0" bIns="0" rtlCol="0" anchor="ctr"/>
          <a:lstStyle/>
          <a:p>
            <a:pPr indent="0" marL="0">
              <a:buNone/>
            </a:pPr>
            <a:r>
              <a:rPr lang="en-US" sz="1500" b="1" dirty="0">
                <a:solidFill>
                  <a:schemeClr val="tx2"/>
                </a:solidFill>
              </a:rPr>
              <a:t>Frontend</a:t>
            </a:r>
            <a:endParaRPr lang="en-US" sz="1500" dirty="0"/>
          </a:p>
        </p:txBody>
      </p:sp>
      <p:sp>
        <p:nvSpPr>
          <p:cNvPr id="8" name="Step text 1"/>
          <p:cNvSpPr txBox="1"/>
          <p:nvPr/>
        </p:nvSpPr>
        <p:spPr>
          <a:xfrm>
            <a:off x="6995160" y="1508760"/>
            <a:ext cx="1737360" cy="685800"/>
          </a:xfrm>
          <a:prstGeom prst="rect">
            <a:avLst/>
          </a:prstGeom>
          <a:noFill/>
          <a:ln/>
        </p:spPr>
        <p:txBody>
          <a:bodyPr wrap="square" lIns="0" tIns="0" rIns="0" bIns="0" rtlCol="0" anchor="t"/>
          <a:lstStyle/>
          <a:p>
            <a:pPr indent="0" marL="0">
              <a:buNone/>
            </a:pPr>
            <a:r>
              <a:rPr lang="en-US" sz="1200" dirty="0">
                <a:solidFill>
                  <a:schemeClr val="tx1"/>
                </a:solidFill>
              </a:rPr>
              <a:t>Static site on Firebase Hosting or Vercel</a:t>
            </a:r>
            <a:endParaRPr lang="en-US" sz="1200" dirty="0"/>
          </a:p>
        </p:txBody>
      </p:sp>
      <p:sp>
        <p:nvSpPr>
          <p:cNvPr id="9" name="Step badge 2"/>
          <p:cNvSpPr/>
          <p:nvPr/>
        </p:nvSpPr>
        <p:spPr>
          <a:xfrm>
            <a:off x="6400800" y="2331720"/>
            <a:ext cx="457200" cy="457200"/>
          </a:xfrm>
          <a:prstGeom prst="ellipse">
            <a:avLst/>
          </a:prstGeom>
          <a:solidFill>
            <a:schemeClr val="accent1"/>
          </a:solidFill>
          <a:ln w="12700">
            <a:solidFill>
              <a:schemeClr val="accent1"/>
            </a:solidFill>
            <a:prstDash val="solid"/>
          </a:ln>
        </p:spPr>
      </p:sp>
      <p:sp>
        <p:nvSpPr>
          <p:cNvPr id="10" name="Step number 2"/>
          <p:cNvSpPr txBox="1"/>
          <p:nvPr/>
        </p:nvSpPr>
        <p:spPr>
          <a:xfrm>
            <a:off x="6400800" y="2331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Step head 2"/>
          <p:cNvSpPr txBox="1"/>
          <p:nvPr/>
        </p:nvSpPr>
        <p:spPr>
          <a:xfrm>
            <a:off x="6995160" y="2313432"/>
            <a:ext cx="1737360" cy="274320"/>
          </a:xfrm>
          <a:prstGeom prst="rect">
            <a:avLst/>
          </a:prstGeom>
          <a:noFill/>
          <a:ln/>
        </p:spPr>
        <p:txBody>
          <a:bodyPr wrap="square" lIns="0" tIns="0" rIns="0" bIns="0" rtlCol="0" anchor="ctr"/>
          <a:lstStyle/>
          <a:p>
            <a:pPr indent="0" marL="0">
              <a:buNone/>
            </a:pPr>
            <a:r>
              <a:rPr lang="en-US" sz="1500" b="1" dirty="0">
                <a:solidFill>
                  <a:schemeClr val="tx2"/>
                </a:solidFill>
              </a:rPr>
              <a:t>Firebase</a:t>
            </a:r>
            <a:endParaRPr lang="en-US" sz="1500" dirty="0"/>
          </a:p>
        </p:txBody>
      </p:sp>
      <p:sp>
        <p:nvSpPr>
          <p:cNvPr id="12" name="Step text 2"/>
          <p:cNvSpPr txBox="1"/>
          <p:nvPr/>
        </p:nvSpPr>
        <p:spPr>
          <a:xfrm>
            <a:off x="6995160" y="2606040"/>
            <a:ext cx="1737360" cy="685800"/>
          </a:xfrm>
          <a:prstGeom prst="rect">
            <a:avLst/>
          </a:prstGeom>
          <a:noFill/>
          <a:ln/>
        </p:spPr>
        <p:txBody>
          <a:bodyPr wrap="square" lIns="0" tIns="0" rIns="0" bIns="0" rtlCol="0" anchor="t"/>
          <a:lstStyle/>
          <a:p>
            <a:pPr indent="0" marL="0">
              <a:buNone/>
            </a:pPr>
            <a:r>
              <a:rPr lang="en-US" sz="1200" dirty="0">
                <a:solidFill>
                  <a:schemeClr val="tx1"/>
                </a:solidFill>
              </a:rPr>
              <a:t>Google sign-in and Firestore data per user</a:t>
            </a:r>
            <a:endParaRPr lang="en-US" sz="1200" dirty="0"/>
          </a:p>
        </p:txBody>
      </p:sp>
      <p:sp>
        <p:nvSpPr>
          <p:cNvPr id="13" name="Step badge 3"/>
          <p:cNvSpPr/>
          <p:nvPr/>
        </p:nvSpPr>
        <p:spPr>
          <a:xfrm>
            <a:off x="6400800" y="3429000"/>
            <a:ext cx="457200" cy="457200"/>
          </a:xfrm>
          <a:prstGeom prst="ellipse">
            <a:avLst/>
          </a:prstGeom>
          <a:solidFill>
            <a:schemeClr val="accent1"/>
          </a:solidFill>
          <a:ln w="12700">
            <a:solidFill>
              <a:schemeClr val="accent1"/>
            </a:solidFill>
            <a:prstDash val="solid"/>
          </a:ln>
        </p:spPr>
      </p:sp>
      <p:sp>
        <p:nvSpPr>
          <p:cNvPr id="14" name="Step number 3"/>
          <p:cNvSpPr txBox="1"/>
          <p:nvPr/>
        </p:nvSpPr>
        <p:spPr>
          <a:xfrm>
            <a:off x="6400800" y="3429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Step head 3"/>
          <p:cNvSpPr txBox="1"/>
          <p:nvPr/>
        </p:nvSpPr>
        <p:spPr>
          <a:xfrm>
            <a:off x="6995160" y="3410712"/>
            <a:ext cx="1737360" cy="274320"/>
          </a:xfrm>
          <a:prstGeom prst="rect">
            <a:avLst/>
          </a:prstGeom>
          <a:noFill/>
          <a:ln/>
        </p:spPr>
        <p:txBody>
          <a:bodyPr wrap="square" lIns="0" tIns="0" rIns="0" bIns="0" rtlCol="0" anchor="ctr"/>
          <a:lstStyle/>
          <a:p>
            <a:pPr indent="0" marL="0">
              <a:buNone/>
            </a:pPr>
            <a:r>
              <a:rPr lang="en-US" sz="1500" b="1" dirty="0">
                <a:solidFill>
                  <a:schemeClr val="tx2"/>
                </a:solidFill>
              </a:rPr>
              <a:t>FastAPI</a:t>
            </a:r>
            <a:endParaRPr lang="en-US" sz="1500" dirty="0"/>
          </a:p>
        </p:txBody>
      </p:sp>
      <p:sp>
        <p:nvSpPr>
          <p:cNvPr id="16" name="Step text 3"/>
          <p:cNvSpPr txBox="1"/>
          <p:nvPr/>
        </p:nvSpPr>
        <p:spPr>
          <a:xfrm>
            <a:off x="6995160" y="3703320"/>
            <a:ext cx="1737360" cy="685800"/>
          </a:xfrm>
          <a:prstGeom prst="rect">
            <a:avLst/>
          </a:prstGeom>
          <a:noFill/>
          <a:ln/>
        </p:spPr>
        <p:txBody>
          <a:bodyPr wrap="square" lIns="0" tIns="0" rIns="0" bIns="0" rtlCol="0" anchor="t"/>
          <a:lstStyle/>
          <a:p>
            <a:pPr indent="0" marL="0">
              <a:buNone/>
            </a:pPr>
            <a:r>
              <a:rPr lang="en-US" sz="1200" dirty="0">
                <a:solidFill>
                  <a:schemeClr val="tx1"/>
                </a:solidFill>
              </a:rPr>
              <a:t>Verifies token, calls Groq with the secret key</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How an AI request is protected</a:t>
            </a:r>
            <a:endParaRPr lang="en-US" sz="3000" dirty="0"/>
          </a:p>
        </p:txBody>
      </p:sp>
      <p:sp>
        <p:nvSpPr>
          <p:cNvPr id="3" name="Point icon 1 circle"/>
          <p:cNvSpPr/>
          <p:nvPr/>
        </p:nvSpPr>
        <p:spPr>
          <a:xfrm>
            <a:off x="457200" y="1234440"/>
            <a:ext cx="548640" cy="548640"/>
          </a:xfrm>
          <a:prstGeom prst="ellipse">
            <a:avLst/>
          </a:prstGeom>
          <a:solidFill>
            <a:schemeClr val="accent1"/>
          </a:solidFill>
          <a:ln w="12700">
            <a:solidFill>
              <a:schemeClr val="accent1"/>
            </a:solidFill>
            <a:prstDash val="solid"/>
          </a:ln>
        </p:spPr>
      </p:sp>
      <p:pic>
        <p:nvPicPr>
          <p:cNvPr id="4" name="Point icon 1 icon" descr="Point icon 1">    </p:cNvPr>
          <p:cNvPicPr>
            <a:picLocks noChangeAspect="1"/>
          </p:cNvPicPr>
          <p:nvPr/>
        </p:nvPicPr>
        <p:blipFill>
          <a:blip r:embed="rId1"/>
          <a:stretch>
            <a:fillRect/>
          </a:stretch>
        </p:blipFill>
        <p:spPr>
          <a:xfrm>
            <a:off x="599846" y="1377086"/>
            <a:ext cx="263347" cy="263347"/>
          </a:xfrm>
          <a:prstGeom prst="rect">
            <a:avLst/>
          </a:prstGeom>
        </p:spPr>
      </p:pic>
      <p:sp>
        <p:nvSpPr>
          <p:cNvPr id="5" name="Point head 1"/>
          <p:cNvSpPr txBox="1"/>
          <p:nvPr/>
        </p:nvSpPr>
        <p:spPr>
          <a:xfrm>
            <a:off x="1188720" y="1216152"/>
            <a:ext cx="2286000" cy="292608"/>
          </a:xfrm>
          <a:prstGeom prst="rect">
            <a:avLst/>
          </a:prstGeom>
          <a:noFill/>
          <a:ln/>
        </p:spPr>
        <p:txBody>
          <a:bodyPr wrap="square" lIns="0" tIns="0" rIns="0" bIns="0" rtlCol="0" anchor="ctr"/>
          <a:lstStyle/>
          <a:p>
            <a:pPr indent="0" marL="0">
              <a:buNone/>
            </a:pPr>
            <a:r>
              <a:rPr lang="en-US" sz="1500" b="1" dirty="0">
                <a:solidFill>
                  <a:schemeClr val="tx2"/>
                </a:solidFill>
              </a:rPr>
              <a:t>Key stays on the server</a:t>
            </a:r>
            <a:endParaRPr lang="en-US" sz="1500" dirty="0"/>
          </a:p>
        </p:txBody>
      </p:sp>
      <p:sp>
        <p:nvSpPr>
          <p:cNvPr id="6" name="Point text 1"/>
          <p:cNvSpPr txBox="1"/>
          <p:nvPr/>
        </p:nvSpPr>
        <p:spPr>
          <a:xfrm>
            <a:off x="1188720" y="1508760"/>
            <a:ext cx="2286000" cy="548640"/>
          </a:xfrm>
          <a:prstGeom prst="rect">
            <a:avLst/>
          </a:prstGeom>
          <a:noFill/>
          <a:ln/>
        </p:spPr>
        <p:txBody>
          <a:bodyPr wrap="square" lIns="0" tIns="0" rIns="0" bIns="0" rtlCol="0" anchor="t"/>
          <a:lstStyle/>
          <a:p>
            <a:pPr indent="0" marL="0">
              <a:buNone/>
            </a:pPr>
            <a:r>
              <a:rPr lang="en-US" sz="1200" dirty="0">
                <a:solidFill>
                  <a:schemeClr val="tx1"/>
                </a:solidFill>
              </a:rPr>
              <a:t>GROQ_API_KEY is an environment variable</a:t>
            </a:r>
            <a:endParaRPr lang="en-US" sz="1200" dirty="0"/>
          </a:p>
        </p:txBody>
      </p:sp>
      <p:sp>
        <p:nvSpPr>
          <p:cNvPr id="7" name="Point icon 2 circle"/>
          <p:cNvSpPr/>
          <p:nvPr/>
        </p:nvSpPr>
        <p:spPr>
          <a:xfrm>
            <a:off x="457200" y="2331720"/>
            <a:ext cx="548640" cy="548640"/>
          </a:xfrm>
          <a:prstGeom prst="ellipse">
            <a:avLst/>
          </a:prstGeom>
          <a:solidFill>
            <a:schemeClr val="accent1"/>
          </a:solidFill>
          <a:ln w="12700">
            <a:solidFill>
              <a:schemeClr val="accent1"/>
            </a:solidFill>
            <a:prstDash val="solid"/>
          </a:ln>
        </p:spPr>
      </p:sp>
      <p:pic>
        <p:nvPicPr>
          <p:cNvPr id="8" name="Point icon 2 icon" descr="Point icon 2">    </p:cNvPr>
          <p:cNvPicPr>
            <a:picLocks noChangeAspect="1"/>
          </p:cNvPicPr>
          <p:nvPr/>
        </p:nvPicPr>
        <p:blipFill>
          <a:blip r:embed="rId2"/>
          <a:stretch>
            <a:fillRect/>
          </a:stretch>
        </p:blipFill>
        <p:spPr>
          <a:xfrm>
            <a:off x="599846" y="2474366"/>
            <a:ext cx="263347" cy="263347"/>
          </a:xfrm>
          <a:prstGeom prst="rect">
            <a:avLst/>
          </a:prstGeom>
        </p:spPr>
      </p:pic>
      <p:sp>
        <p:nvSpPr>
          <p:cNvPr id="9" name="Point head 2"/>
          <p:cNvSpPr txBox="1"/>
          <p:nvPr/>
        </p:nvSpPr>
        <p:spPr>
          <a:xfrm>
            <a:off x="1188720" y="2313432"/>
            <a:ext cx="2286000" cy="292608"/>
          </a:xfrm>
          <a:prstGeom prst="rect">
            <a:avLst/>
          </a:prstGeom>
          <a:noFill/>
          <a:ln/>
        </p:spPr>
        <p:txBody>
          <a:bodyPr wrap="square" lIns="0" tIns="0" rIns="0" bIns="0" rtlCol="0" anchor="ctr"/>
          <a:lstStyle/>
          <a:p>
            <a:pPr indent="0" marL="0">
              <a:buNone/>
            </a:pPr>
            <a:r>
              <a:rPr lang="en-US" sz="1500" b="1" dirty="0">
                <a:solidFill>
                  <a:schemeClr val="tx2"/>
                </a:solidFill>
              </a:rPr>
              <a:t>Only signed-in users</a:t>
            </a:r>
            <a:endParaRPr lang="en-US" sz="1500" dirty="0"/>
          </a:p>
        </p:txBody>
      </p:sp>
      <p:sp>
        <p:nvSpPr>
          <p:cNvPr id="10" name="Point text 2"/>
          <p:cNvSpPr txBox="1"/>
          <p:nvPr/>
        </p:nvSpPr>
        <p:spPr>
          <a:xfrm>
            <a:off x="1188720" y="2606040"/>
            <a:ext cx="2286000" cy="548640"/>
          </a:xfrm>
          <a:prstGeom prst="rect">
            <a:avLst/>
          </a:prstGeom>
          <a:noFill/>
          <a:ln/>
        </p:spPr>
        <p:txBody>
          <a:bodyPr wrap="square" lIns="0" tIns="0" rIns="0" bIns="0" rtlCol="0" anchor="t"/>
          <a:lstStyle/>
          <a:p>
            <a:pPr indent="0" marL="0">
              <a:buNone/>
            </a:pPr>
            <a:r>
              <a:rPr lang="en-US" sz="1200" dirty="0">
                <a:solidFill>
                  <a:schemeClr val="tx1"/>
                </a:solidFill>
              </a:rPr>
              <a:t>Firebase ID token is verified on every call</a:t>
            </a:r>
            <a:endParaRPr lang="en-US" sz="1200" dirty="0"/>
          </a:p>
        </p:txBody>
      </p:sp>
      <p:sp>
        <p:nvSpPr>
          <p:cNvPr id="11" name="Point icon 3 circle"/>
          <p:cNvSpPr/>
          <p:nvPr/>
        </p:nvSpPr>
        <p:spPr>
          <a:xfrm>
            <a:off x="457200" y="3429000"/>
            <a:ext cx="548640" cy="548640"/>
          </a:xfrm>
          <a:prstGeom prst="ellipse">
            <a:avLst/>
          </a:prstGeom>
          <a:solidFill>
            <a:schemeClr val="accent1"/>
          </a:solidFill>
          <a:ln w="12700">
            <a:solidFill>
              <a:schemeClr val="accent1"/>
            </a:solidFill>
            <a:prstDash val="solid"/>
          </a:ln>
        </p:spPr>
      </p:sp>
      <p:pic>
        <p:nvPicPr>
          <p:cNvPr id="12" name="Point icon 3 icon" descr="Point icon 3">    </p:cNvPr>
          <p:cNvPicPr>
            <a:picLocks noChangeAspect="1"/>
          </p:cNvPicPr>
          <p:nvPr/>
        </p:nvPicPr>
        <p:blipFill>
          <a:blip r:embed="rId3"/>
          <a:stretch>
            <a:fillRect/>
          </a:stretch>
        </p:blipFill>
        <p:spPr>
          <a:xfrm>
            <a:off x="599846" y="3571646"/>
            <a:ext cx="263347" cy="263347"/>
          </a:xfrm>
          <a:prstGeom prst="rect">
            <a:avLst/>
          </a:prstGeom>
        </p:spPr>
      </p:pic>
      <p:sp>
        <p:nvSpPr>
          <p:cNvPr id="13" name="Point head 3"/>
          <p:cNvSpPr txBox="1"/>
          <p:nvPr/>
        </p:nvSpPr>
        <p:spPr>
          <a:xfrm>
            <a:off x="1188720" y="3410712"/>
            <a:ext cx="2286000" cy="292608"/>
          </a:xfrm>
          <a:prstGeom prst="rect">
            <a:avLst/>
          </a:prstGeom>
          <a:noFill/>
          <a:ln/>
        </p:spPr>
        <p:txBody>
          <a:bodyPr wrap="square" lIns="0" tIns="0" rIns="0" bIns="0" rtlCol="0" anchor="ctr"/>
          <a:lstStyle/>
          <a:p>
            <a:pPr indent="0" marL="0">
              <a:buNone/>
            </a:pPr>
            <a:r>
              <a:rPr lang="en-US" sz="1500" b="1" dirty="0">
                <a:solidFill>
                  <a:schemeClr val="tx2"/>
                </a:solidFill>
              </a:rPr>
              <a:t>Validated and limited</a:t>
            </a:r>
            <a:endParaRPr lang="en-US" sz="1500" dirty="0"/>
          </a:p>
        </p:txBody>
      </p:sp>
      <p:sp>
        <p:nvSpPr>
          <p:cNvPr id="14" name="Point text 3"/>
          <p:cNvSpPr txBox="1"/>
          <p:nvPr/>
        </p:nvSpPr>
        <p:spPr>
          <a:xfrm>
            <a:off x="1188720" y="3703320"/>
            <a:ext cx="2286000" cy="548640"/>
          </a:xfrm>
          <a:prstGeom prst="rect">
            <a:avLst/>
          </a:prstGeom>
          <a:noFill/>
          <a:ln/>
        </p:spPr>
        <p:txBody>
          <a:bodyPr wrap="square" lIns="0" tIns="0" rIns="0" bIns="0" rtlCol="0" anchor="t"/>
          <a:lstStyle/>
          <a:p>
            <a:pPr indent="0" marL="0">
              <a:buNone/>
            </a:pPr>
            <a:r>
              <a:rPr lang="en-US" sz="1200" dirty="0">
                <a:solidFill>
                  <a:schemeClr val="tx1"/>
                </a:solidFill>
              </a:rPr>
              <a:t>Roles, sizes, 30 requests per minute</a:t>
            </a:r>
            <a:endParaRPr lang="en-US" sz="1200" dirty="0"/>
          </a:p>
        </p:txBody>
      </p:sp>
      <p:sp>
        <p:nvSpPr>
          <p:cNvPr id="15" name="Flow panel"/>
          <p:cNvSpPr/>
          <p:nvPr/>
        </p:nvSpPr>
        <p:spPr>
          <a:xfrm>
            <a:off x="3611880" y="1188720"/>
            <a:ext cx="5074920" cy="3383280"/>
          </a:xfrm>
          <a:prstGeom prst="roundRect">
            <a:avLst>
              <a:gd name="adj" fmla="val 3243"/>
            </a:avLst>
          </a:prstGeom>
          <a:solidFill>
            <a:schemeClr val="bg1"/>
          </a:solidFill>
          <a:ln w="12700">
            <a:solidFill>
              <a:schemeClr val="bg1"/>
            </a:solidFill>
            <a:prstDash val="solid"/>
          </a:ln>
        </p:spPr>
      </p:sp>
      <p:pic>
        <p:nvPicPr>
          <p:cNvPr id="16" name="AI flow diagram" descr="Sequence: browser, FastAPI, Google certificates, Groq">    </p:cNvPr>
          <p:cNvPicPr>
            <a:picLocks noChangeAspect="1"/>
          </p:cNvPicPr>
          <p:nvPr/>
        </p:nvPicPr>
        <p:blipFill>
          <a:blip r:embed="rId4"/>
          <a:stretch>
            <a:fillRect/>
          </a:stretch>
        </p:blipFill>
        <p:spPr>
          <a:xfrm>
            <a:off x="3657600" y="1615629"/>
            <a:ext cx="5071262" cy="2529462"/>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Technology stack</a:t>
            </a:r>
            <a:endParaRPr lang="en-US" sz="3000" dirty="0"/>
          </a:p>
        </p:txBody>
      </p:sp>
      <p:sp>
        <p:nvSpPr>
          <p:cNvPr id="3" name="Tech card 1"/>
          <p:cNvSpPr/>
          <p:nvPr/>
        </p:nvSpPr>
        <p:spPr>
          <a:xfrm>
            <a:off x="457200" y="1234440"/>
            <a:ext cx="1920240" cy="2834640"/>
          </a:xfrm>
          <a:prstGeom prst="roundRect">
            <a:avLst>
              <a:gd name="adj" fmla="val 5714"/>
            </a:avLst>
          </a:prstGeom>
          <a:solidFill>
            <a:schemeClr val="bg2"/>
          </a:solidFill>
          <a:ln w="12700">
            <a:solidFill>
              <a:schemeClr val="bg2"/>
            </a:solidFill>
            <a:prstDash val="solid"/>
          </a:ln>
        </p:spPr>
      </p:sp>
      <p:sp>
        <p:nvSpPr>
          <p:cNvPr id="4" name="Tech icon 1 circle"/>
          <p:cNvSpPr/>
          <p:nvPr/>
        </p:nvSpPr>
        <p:spPr>
          <a:xfrm>
            <a:off x="640080" y="1417320"/>
            <a:ext cx="548640" cy="548640"/>
          </a:xfrm>
          <a:prstGeom prst="ellipse">
            <a:avLst/>
          </a:prstGeom>
          <a:solidFill>
            <a:schemeClr val="accent1"/>
          </a:solidFill>
          <a:ln w="12700">
            <a:solidFill>
              <a:schemeClr val="accent1"/>
            </a:solidFill>
            <a:prstDash val="solid"/>
          </a:ln>
        </p:spPr>
      </p:sp>
      <p:pic>
        <p:nvPicPr>
          <p:cNvPr id="5" name="Tech icon 1 icon" descr="Tech icon 1">    </p:cNvPr>
          <p:cNvPicPr>
            <a:picLocks noChangeAspect="1"/>
          </p:cNvPicPr>
          <p:nvPr/>
        </p:nvPicPr>
        <p:blipFill>
          <a:blip r:embed="rId1"/>
          <a:stretch>
            <a:fillRect/>
          </a:stretch>
        </p:blipFill>
        <p:spPr>
          <a:xfrm>
            <a:off x="782726" y="1559966"/>
            <a:ext cx="263347" cy="263347"/>
          </a:xfrm>
          <a:prstGeom prst="rect">
            <a:avLst/>
          </a:prstGeom>
        </p:spPr>
      </p:pic>
      <p:sp>
        <p:nvSpPr>
          <p:cNvPr id="6" name="Tech head 1"/>
          <p:cNvSpPr txBox="1"/>
          <p:nvPr/>
        </p:nvSpPr>
        <p:spPr>
          <a:xfrm>
            <a:off x="640080" y="2103120"/>
            <a:ext cx="1600200" cy="365760"/>
          </a:xfrm>
          <a:prstGeom prst="rect">
            <a:avLst/>
          </a:prstGeom>
          <a:noFill/>
          <a:ln/>
        </p:spPr>
        <p:txBody>
          <a:bodyPr wrap="square" lIns="0" tIns="0" rIns="0" bIns="0" rtlCol="0" anchor="ctr"/>
          <a:lstStyle/>
          <a:p>
            <a:pPr indent="0" marL="0">
              <a:buNone/>
            </a:pPr>
            <a:r>
              <a:rPr lang="en-US" sz="1700" b="1" dirty="0">
                <a:solidFill>
                  <a:schemeClr val="tx2"/>
                </a:solidFill>
              </a:rPr>
              <a:t>Frontend</a:t>
            </a:r>
            <a:endParaRPr lang="en-US" sz="1700" dirty="0"/>
          </a:p>
        </p:txBody>
      </p:sp>
      <p:sp>
        <p:nvSpPr>
          <p:cNvPr id="7" name="Tech list 1"/>
          <p:cNvSpPr txBox="1"/>
          <p:nvPr/>
        </p:nvSpPr>
        <p:spPr>
          <a:xfrm>
            <a:off x="640080" y="2560320"/>
            <a:ext cx="164592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HTML5, CSS3</a:t>
            </a:r>
            <a:endParaRPr lang="en-US" sz="1300" dirty="0"/>
          </a:p>
          <a:p>
            <a:pPr marL="342900" indent="-342900">
              <a:spcAft>
                <a:spcPts val="600"/>
              </a:spcAft>
              <a:buSzPct val="100000"/>
              <a:buChar char="•"/>
            </a:pPr>
            <a:r>
              <a:rPr lang="en-US" sz="1300" dirty="0">
                <a:solidFill>
                  <a:schemeClr val="tx1"/>
                </a:solidFill>
              </a:rPr>
              <a:t>Vanilla JavaScript</a:t>
            </a:r>
            <a:endParaRPr lang="en-US" sz="1300" dirty="0"/>
          </a:p>
          <a:p>
            <a:pPr marL="342900" indent="-342900">
              <a:spcAft>
                <a:spcPts val="600"/>
              </a:spcAft>
              <a:buSzPct val="100000"/>
              <a:buChar char="•"/>
            </a:pPr>
            <a:r>
              <a:rPr lang="en-US" sz="1300" dirty="0">
                <a:solidFill>
                  <a:schemeClr val="tx1"/>
                </a:solidFill>
              </a:rPr>
              <a:t>SVG charts</a:t>
            </a:r>
            <a:endParaRPr lang="en-US" sz="1300" dirty="0"/>
          </a:p>
          <a:p>
            <a:pPr marL="342900" indent="-342900">
              <a:spcAft>
                <a:spcPts val="600"/>
              </a:spcAft>
              <a:buSzPct val="100000"/>
              <a:buChar char="•"/>
            </a:pPr>
            <a:r>
              <a:rPr lang="en-US" sz="1300" dirty="0">
                <a:solidFill>
                  <a:schemeClr val="tx1"/>
                </a:solidFill>
              </a:rPr>
              <a:t>Service Worker (PWA)</a:t>
            </a:r>
            <a:endParaRPr lang="en-US" sz="1300" dirty="0"/>
          </a:p>
        </p:txBody>
      </p:sp>
      <p:sp>
        <p:nvSpPr>
          <p:cNvPr id="8" name="Tech card 2"/>
          <p:cNvSpPr/>
          <p:nvPr/>
        </p:nvSpPr>
        <p:spPr>
          <a:xfrm>
            <a:off x="2542032" y="1234440"/>
            <a:ext cx="1920240" cy="2834640"/>
          </a:xfrm>
          <a:prstGeom prst="roundRect">
            <a:avLst>
              <a:gd name="adj" fmla="val 5714"/>
            </a:avLst>
          </a:prstGeom>
          <a:solidFill>
            <a:schemeClr val="bg2"/>
          </a:solidFill>
          <a:ln w="12700">
            <a:solidFill>
              <a:schemeClr val="bg2"/>
            </a:solidFill>
            <a:prstDash val="solid"/>
          </a:ln>
        </p:spPr>
      </p:sp>
      <p:sp>
        <p:nvSpPr>
          <p:cNvPr id="9" name="Tech icon 2 circle"/>
          <p:cNvSpPr/>
          <p:nvPr/>
        </p:nvSpPr>
        <p:spPr>
          <a:xfrm>
            <a:off x="2724912" y="1417320"/>
            <a:ext cx="548640" cy="548640"/>
          </a:xfrm>
          <a:prstGeom prst="ellipse">
            <a:avLst/>
          </a:prstGeom>
          <a:solidFill>
            <a:schemeClr val="accent1"/>
          </a:solidFill>
          <a:ln w="12700">
            <a:solidFill>
              <a:schemeClr val="accent1"/>
            </a:solidFill>
            <a:prstDash val="solid"/>
          </a:ln>
        </p:spPr>
      </p:sp>
      <p:pic>
        <p:nvPicPr>
          <p:cNvPr id="10" name="Tech icon 2 icon" descr="Tech icon 2">    </p:cNvPr>
          <p:cNvPicPr>
            <a:picLocks noChangeAspect="1"/>
          </p:cNvPicPr>
          <p:nvPr/>
        </p:nvPicPr>
        <p:blipFill>
          <a:blip r:embed="rId2"/>
          <a:stretch>
            <a:fillRect/>
          </a:stretch>
        </p:blipFill>
        <p:spPr>
          <a:xfrm>
            <a:off x="2867558" y="1559966"/>
            <a:ext cx="263347" cy="263347"/>
          </a:xfrm>
          <a:prstGeom prst="rect">
            <a:avLst/>
          </a:prstGeom>
        </p:spPr>
      </p:pic>
      <p:sp>
        <p:nvSpPr>
          <p:cNvPr id="11" name="Tech head 2"/>
          <p:cNvSpPr txBox="1"/>
          <p:nvPr/>
        </p:nvSpPr>
        <p:spPr>
          <a:xfrm>
            <a:off x="2724912" y="2103120"/>
            <a:ext cx="1600200" cy="365760"/>
          </a:xfrm>
          <a:prstGeom prst="rect">
            <a:avLst/>
          </a:prstGeom>
          <a:noFill/>
          <a:ln/>
        </p:spPr>
        <p:txBody>
          <a:bodyPr wrap="square" lIns="0" tIns="0" rIns="0" bIns="0" rtlCol="0" anchor="ctr"/>
          <a:lstStyle/>
          <a:p>
            <a:pPr indent="0" marL="0">
              <a:buNone/>
            </a:pPr>
            <a:r>
              <a:rPr lang="en-US" sz="1700" b="1" dirty="0">
                <a:solidFill>
                  <a:schemeClr val="tx2"/>
                </a:solidFill>
              </a:rPr>
              <a:t>Backend</a:t>
            </a:r>
            <a:endParaRPr lang="en-US" sz="1700" dirty="0"/>
          </a:p>
        </p:txBody>
      </p:sp>
      <p:sp>
        <p:nvSpPr>
          <p:cNvPr id="12" name="Tech list 2"/>
          <p:cNvSpPr txBox="1"/>
          <p:nvPr/>
        </p:nvSpPr>
        <p:spPr>
          <a:xfrm>
            <a:off x="2724912" y="2560320"/>
            <a:ext cx="164592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Python, FastAPI</a:t>
            </a:r>
            <a:endParaRPr lang="en-US" sz="1300" dirty="0"/>
          </a:p>
          <a:p>
            <a:pPr marL="342900" indent="-342900">
              <a:spcAft>
                <a:spcPts val="600"/>
              </a:spcAft>
              <a:buSzPct val="100000"/>
              <a:buChar char="•"/>
            </a:pPr>
            <a:r>
              <a:rPr lang="en-US" sz="1300" dirty="0">
                <a:solidFill>
                  <a:schemeClr val="tx1"/>
                </a:solidFill>
              </a:rPr>
              <a:t>Pydantic, httpx</a:t>
            </a:r>
            <a:endParaRPr lang="en-US" sz="1300" dirty="0"/>
          </a:p>
          <a:p>
            <a:pPr marL="342900" indent="-342900">
              <a:spcAft>
                <a:spcPts val="600"/>
              </a:spcAft>
              <a:buSzPct val="100000"/>
              <a:buChar char="•"/>
            </a:pPr>
            <a:r>
              <a:rPr lang="en-US" sz="1300" dirty="0">
                <a:solidFill>
                  <a:schemeClr val="tx1"/>
                </a:solidFill>
              </a:rPr>
              <a:t>google-auth</a:t>
            </a:r>
            <a:endParaRPr lang="en-US" sz="1300" dirty="0"/>
          </a:p>
          <a:p>
            <a:pPr marL="342900" indent="-342900">
              <a:spcAft>
                <a:spcPts val="600"/>
              </a:spcAft>
              <a:buSzPct val="100000"/>
              <a:buChar char="•"/>
            </a:pPr>
            <a:r>
              <a:rPr lang="en-US" sz="1300" dirty="0">
                <a:solidFill>
                  <a:schemeClr val="tx1"/>
                </a:solidFill>
              </a:rPr>
              <a:t>pytest</a:t>
            </a:r>
            <a:endParaRPr lang="en-US" sz="1300" dirty="0"/>
          </a:p>
        </p:txBody>
      </p:sp>
      <p:sp>
        <p:nvSpPr>
          <p:cNvPr id="13" name="Tech card 3"/>
          <p:cNvSpPr/>
          <p:nvPr/>
        </p:nvSpPr>
        <p:spPr>
          <a:xfrm>
            <a:off x="4626864" y="1234440"/>
            <a:ext cx="1920240" cy="2834640"/>
          </a:xfrm>
          <a:prstGeom prst="roundRect">
            <a:avLst>
              <a:gd name="adj" fmla="val 5714"/>
            </a:avLst>
          </a:prstGeom>
          <a:solidFill>
            <a:schemeClr val="bg2"/>
          </a:solidFill>
          <a:ln w="12700">
            <a:solidFill>
              <a:schemeClr val="bg2"/>
            </a:solidFill>
            <a:prstDash val="solid"/>
          </a:ln>
        </p:spPr>
      </p:sp>
      <p:sp>
        <p:nvSpPr>
          <p:cNvPr id="14" name="Tech icon 3 circle"/>
          <p:cNvSpPr/>
          <p:nvPr/>
        </p:nvSpPr>
        <p:spPr>
          <a:xfrm>
            <a:off x="4809744" y="1417320"/>
            <a:ext cx="548640" cy="548640"/>
          </a:xfrm>
          <a:prstGeom prst="ellipse">
            <a:avLst/>
          </a:prstGeom>
          <a:solidFill>
            <a:schemeClr val="accent1"/>
          </a:solidFill>
          <a:ln w="12700">
            <a:solidFill>
              <a:schemeClr val="accent1"/>
            </a:solidFill>
            <a:prstDash val="solid"/>
          </a:ln>
        </p:spPr>
      </p:sp>
      <p:pic>
        <p:nvPicPr>
          <p:cNvPr id="15" name="Tech icon 3 icon" descr="Tech icon 3">    </p:cNvPr>
          <p:cNvPicPr>
            <a:picLocks noChangeAspect="1"/>
          </p:cNvPicPr>
          <p:nvPr/>
        </p:nvPicPr>
        <p:blipFill>
          <a:blip r:embed="rId3"/>
          <a:stretch>
            <a:fillRect/>
          </a:stretch>
        </p:blipFill>
        <p:spPr>
          <a:xfrm>
            <a:off x="4952390" y="1559966"/>
            <a:ext cx="263347" cy="263347"/>
          </a:xfrm>
          <a:prstGeom prst="rect">
            <a:avLst/>
          </a:prstGeom>
        </p:spPr>
      </p:pic>
      <p:sp>
        <p:nvSpPr>
          <p:cNvPr id="16" name="Tech head 3"/>
          <p:cNvSpPr txBox="1"/>
          <p:nvPr/>
        </p:nvSpPr>
        <p:spPr>
          <a:xfrm>
            <a:off x="4809744" y="2103120"/>
            <a:ext cx="1600200" cy="365760"/>
          </a:xfrm>
          <a:prstGeom prst="rect">
            <a:avLst/>
          </a:prstGeom>
          <a:noFill/>
          <a:ln/>
        </p:spPr>
        <p:txBody>
          <a:bodyPr wrap="square" lIns="0" tIns="0" rIns="0" bIns="0" rtlCol="0" anchor="ctr"/>
          <a:lstStyle/>
          <a:p>
            <a:pPr indent="0" marL="0">
              <a:buNone/>
            </a:pPr>
            <a:r>
              <a:rPr lang="en-US" sz="1700" b="1" dirty="0">
                <a:solidFill>
                  <a:schemeClr val="tx2"/>
                </a:solidFill>
              </a:rPr>
              <a:t>Firebase</a:t>
            </a:r>
            <a:endParaRPr lang="en-US" sz="1700" dirty="0"/>
          </a:p>
        </p:txBody>
      </p:sp>
      <p:sp>
        <p:nvSpPr>
          <p:cNvPr id="17" name="Tech list 3"/>
          <p:cNvSpPr txBox="1"/>
          <p:nvPr/>
        </p:nvSpPr>
        <p:spPr>
          <a:xfrm>
            <a:off x="4809744" y="2560320"/>
            <a:ext cx="164592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Authentication (Google)</a:t>
            </a:r>
            <a:endParaRPr lang="en-US" sz="1300" dirty="0"/>
          </a:p>
          <a:p>
            <a:pPr marL="342900" indent="-342900">
              <a:spcAft>
                <a:spcPts val="600"/>
              </a:spcAft>
              <a:buSzPct val="100000"/>
              <a:buChar char="•"/>
            </a:pPr>
            <a:r>
              <a:rPr lang="en-US" sz="1300" dirty="0">
                <a:solidFill>
                  <a:schemeClr val="tx1"/>
                </a:solidFill>
              </a:rPr>
              <a:t>Cloud Firestore</a:t>
            </a:r>
            <a:endParaRPr lang="en-US" sz="1300" dirty="0"/>
          </a:p>
          <a:p>
            <a:pPr marL="342900" indent="-342900">
              <a:spcAft>
                <a:spcPts val="600"/>
              </a:spcAft>
              <a:buSzPct val="100000"/>
              <a:buChar char="•"/>
            </a:pPr>
            <a:r>
              <a:rPr lang="en-US" sz="1300" dirty="0">
                <a:solidFill>
                  <a:schemeClr val="tx1"/>
                </a:solidFill>
              </a:rPr>
              <a:t>Security rules</a:t>
            </a:r>
            <a:endParaRPr lang="en-US" sz="1300" dirty="0"/>
          </a:p>
          <a:p>
            <a:pPr marL="342900" indent="-342900">
              <a:spcAft>
                <a:spcPts val="600"/>
              </a:spcAft>
              <a:buSzPct val="100000"/>
              <a:buChar char="•"/>
            </a:pPr>
            <a:r>
              <a:rPr lang="en-US" sz="1300" dirty="0">
                <a:solidFill>
                  <a:schemeClr val="tx1"/>
                </a:solidFill>
              </a:rPr>
              <a:t>Hosting</a:t>
            </a:r>
            <a:endParaRPr lang="en-US" sz="1300" dirty="0"/>
          </a:p>
        </p:txBody>
      </p:sp>
      <p:sp>
        <p:nvSpPr>
          <p:cNvPr id="18" name="Tech card 4"/>
          <p:cNvSpPr/>
          <p:nvPr/>
        </p:nvSpPr>
        <p:spPr>
          <a:xfrm>
            <a:off x="6711696" y="1234440"/>
            <a:ext cx="1920240" cy="2834640"/>
          </a:xfrm>
          <a:prstGeom prst="roundRect">
            <a:avLst>
              <a:gd name="adj" fmla="val 5714"/>
            </a:avLst>
          </a:prstGeom>
          <a:solidFill>
            <a:schemeClr val="bg2"/>
          </a:solidFill>
          <a:ln w="12700">
            <a:solidFill>
              <a:schemeClr val="bg2"/>
            </a:solidFill>
            <a:prstDash val="solid"/>
          </a:ln>
        </p:spPr>
      </p:sp>
      <p:sp>
        <p:nvSpPr>
          <p:cNvPr id="19" name="Tech icon 4 circle"/>
          <p:cNvSpPr/>
          <p:nvPr/>
        </p:nvSpPr>
        <p:spPr>
          <a:xfrm>
            <a:off x="6894576" y="1417320"/>
            <a:ext cx="548640" cy="548640"/>
          </a:xfrm>
          <a:prstGeom prst="ellipse">
            <a:avLst/>
          </a:prstGeom>
          <a:solidFill>
            <a:schemeClr val="accent1"/>
          </a:solidFill>
          <a:ln w="12700">
            <a:solidFill>
              <a:schemeClr val="accent1"/>
            </a:solidFill>
            <a:prstDash val="solid"/>
          </a:ln>
        </p:spPr>
      </p:sp>
      <p:pic>
        <p:nvPicPr>
          <p:cNvPr id="20" name="Tech icon 4 icon" descr="Tech icon 4">    </p:cNvPr>
          <p:cNvPicPr>
            <a:picLocks noChangeAspect="1"/>
          </p:cNvPicPr>
          <p:nvPr/>
        </p:nvPicPr>
        <p:blipFill>
          <a:blip r:embed="rId4"/>
          <a:stretch>
            <a:fillRect/>
          </a:stretch>
        </p:blipFill>
        <p:spPr>
          <a:xfrm>
            <a:off x="7037222" y="1559966"/>
            <a:ext cx="263347" cy="263347"/>
          </a:xfrm>
          <a:prstGeom prst="rect">
            <a:avLst/>
          </a:prstGeom>
        </p:spPr>
      </p:pic>
      <p:sp>
        <p:nvSpPr>
          <p:cNvPr id="21" name="Tech head 4"/>
          <p:cNvSpPr txBox="1"/>
          <p:nvPr/>
        </p:nvSpPr>
        <p:spPr>
          <a:xfrm>
            <a:off x="6894576" y="2103120"/>
            <a:ext cx="1600200" cy="365760"/>
          </a:xfrm>
          <a:prstGeom prst="rect">
            <a:avLst/>
          </a:prstGeom>
          <a:noFill/>
          <a:ln/>
        </p:spPr>
        <p:txBody>
          <a:bodyPr wrap="square" lIns="0" tIns="0" rIns="0" bIns="0" rtlCol="0" anchor="ctr"/>
          <a:lstStyle/>
          <a:p>
            <a:pPr indent="0" marL="0">
              <a:buNone/>
            </a:pPr>
            <a:r>
              <a:rPr lang="en-US" sz="1700" b="1" dirty="0">
                <a:solidFill>
                  <a:schemeClr val="tx2"/>
                </a:solidFill>
              </a:rPr>
              <a:t>AI and hosting</a:t>
            </a:r>
            <a:endParaRPr lang="en-US" sz="1700" dirty="0"/>
          </a:p>
        </p:txBody>
      </p:sp>
      <p:sp>
        <p:nvSpPr>
          <p:cNvPr id="22" name="Tech list 4"/>
          <p:cNvSpPr txBox="1"/>
          <p:nvPr/>
        </p:nvSpPr>
        <p:spPr>
          <a:xfrm>
            <a:off x="6894576" y="2560320"/>
            <a:ext cx="164592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Groq LLM API</a:t>
            </a:r>
            <a:endParaRPr lang="en-US" sz="1300" dirty="0"/>
          </a:p>
          <a:p>
            <a:pPr marL="342900" indent="-342900">
              <a:spcAft>
                <a:spcPts val="600"/>
              </a:spcAft>
              <a:buSzPct val="100000"/>
              <a:buChar char="•"/>
            </a:pPr>
            <a:r>
              <a:rPr lang="en-US" sz="1300" dirty="0">
                <a:solidFill>
                  <a:schemeClr val="tx1"/>
                </a:solidFill>
              </a:rPr>
              <a:t>llama-3.3-70b</a:t>
            </a:r>
            <a:endParaRPr lang="en-US" sz="1300" dirty="0"/>
          </a:p>
          <a:p>
            <a:pPr marL="342900" indent="-342900">
              <a:spcAft>
                <a:spcPts val="600"/>
              </a:spcAft>
              <a:buSzPct val="100000"/>
              <a:buChar char="•"/>
            </a:pPr>
            <a:r>
              <a:rPr lang="en-US" sz="1300" dirty="0">
                <a:solidFill>
                  <a:schemeClr val="tx1"/>
                </a:solidFill>
              </a:rPr>
              <a:t>Vercel serverless</a:t>
            </a:r>
            <a:endParaRPr lang="en-US" sz="1300" dirty="0"/>
          </a:p>
          <a:p>
            <a:pPr marL="342900" indent="-342900">
              <a:spcAft>
                <a:spcPts val="600"/>
              </a:spcAft>
              <a:buSzPct val="100000"/>
              <a:buChar char="•"/>
            </a:pPr>
            <a:r>
              <a:rPr lang="en-US" sz="1300" dirty="0">
                <a:solidFill>
                  <a:schemeClr val="tx1"/>
                </a:solidFill>
              </a:rPr>
              <a:t>GitHub</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Data model and privacy</a:t>
            </a:r>
            <a:endParaRPr lang="en-US" sz="3000" dirty="0"/>
          </a:p>
        </p:txBody>
      </p:sp>
      <p:sp>
        <p:nvSpPr>
          <p:cNvPr id="3" name="Data panel"/>
          <p:cNvSpPr/>
          <p:nvPr/>
        </p:nvSpPr>
        <p:spPr>
          <a:xfrm>
            <a:off x="457200" y="1188720"/>
            <a:ext cx="4937760" cy="2194560"/>
          </a:xfrm>
          <a:prstGeom prst="roundRect">
            <a:avLst>
              <a:gd name="adj" fmla="val 5000"/>
            </a:avLst>
          </a:prstGeom>
          <a:solidFill>
            <a:schemeClr val="bg1"/>
          </a:solidFill>
          <a:ln w="12700">
            <a:solidFill>
              <a:schemeClr val="bg1"/>
            </a:solidFill>
            <a:prstDash val="solid"/>
          </a:ln>
        </p:spPr>
      </p:sp>
      <p:pic>
        <p:nvPicPr>
          <p:cNvPr id="4" name="Data model diagram" descr="Firestore data model under users/{uid}">    </p:cNvPr>
          <p:cNvPicPr>
            <a:picLocks noChangeAspect="1"/>
          </p:cNvPicPr>
          <p:nvPr/>
        </p:nvPicPr>
        <p:blipFill>
          <a:blip r:embed="rId1"/>
          <a:stretch>
            <a:fillRect/>
          </a:stretch>
        </p:blipFill>
        <p:spPr>
          <a:xfrm>
            <a:off x="548640" y="1206608"/>
            <a:ext cx="4754880" cy="2158785"/>
          </a:xfrm>
          <a:prstGeom prst="rect">
            <a:avLst/>
          </a:prstGeom>
        </p:spPr>
      </p:pic>
      <p:sp>
        <p:nvSpPr>
          <p:cNvPr id="5" name="Data caption"/>
          <p:cNvSpPr txBox="1"/>
          <p:nvPr/>
        </p:nvSpPr>
        <p:spPr>
          <a:xfrm>
            <a:off x="457200" y="3520440"/>
            <a:ext cx="4937760" cy="731520"/>
          </a:xfrm>
          <a:prstGeom prst="rect">
            <a:avLst/>
          </a:prstGeom>
          <a:noFill/>
          <a:ln/>
        </p:spPr>
        <p:txBody>
          <a:bodyPr wrap="square" lIns="0" tIns="0" rIns="0" bIns="0" rtlCol="0" anchor="ctr"/>
          <a:lstStyle/>
          <a:p>
            <a:pPr indent="0" marL="0">
              <a:buNone/>
            </a:pPr>
            <a:r>
              <a:rPr lang="en-US" sz="1400" dirty="0">
                <a:solidFill>
                  <a:schemeClr val="tx1"/>
                </a:solidFill>
              </a:rPr>
              <a:t>Each user owns one tree of documents.</a:t>
            </a:r>
            <a:endParaRPr lang="en-US" sz="1400" dirty="0"/>
          </a:p>
          <a:p>
            <a:pPr indent="0" marL="0">
              <a:buNone/>
            </a:pPr>
            <a:r>
              <a:rPr lang="en-US" sz="1400" dirty="0">
                <a:solidFill>
                  <a:schemeClr val="tx1"/>
                </a:solidFill>
              </a:rPr>
              <a:t>Nothing is shared between users.</a:t>
            </a:r>
            <a:endParaRPr lang="en-US" sz="1400" dirty="0"/>
          </a:p>
        </p:txBody>
      </p:sp>
      <p:sp>
        <p:nvSpPr>
          <p:cNvPr id="6" name="Rules card"/>
          <p:cNvSpPr/>
          <p:nvPr/>
        </p:nvSpPr>
        <p:spPr>
          <a:xfrm>
            <a:off x="5669280" y="1188720"/>
            <a:ext cx="3017520" cy="2377440"/>
          </a:xfrm>
          <a:prstGeom prst="roundRect">
            <a:avLst>
              <a:gd name="adj" fmla="val 3846"/>
            </a:avLst>
          </a:prstGeom>
          <a:solidFill>
            <a:schemeClr val="tx2"/>
          </a:solidFill>
          <a:ln w="12700">
            <a:solidFill>
              <a:schemeClr val="tx2"/>
            </a:solidFill>
            <a:prstDash val="solid"/>
          </a:ln>
        </p:spPr>
      </p:sp>
      <p:sp>
        <p:nvSpPr>
          <p:cNvPr id="7" name="Rules code"/>
          <p:cNvSpPr txBox="1"/>
          <p:nvPr/>
        </p:nvSpPr>
        <p:spPr>
          <a:xfrm>
            <a:off x="5852160" y="1325880"/>
            <a:ext cx="2697480" cy="2103120"/>
          </a:xfrm>
          <a:prstGeom prst="rect">
            <a:avLst/>
          </a:prstGeom>
          <a:noFill/>
          <a:ln/>
        </p:spPr>
        <p:txBody>
          <a:bodyPr wrap="square" lIns="0" tIns="0" rIns="0" bIns="0" rtlCol="0" anchor="t"/>
          <a:lstStyle/>
          <a:p>
            <a:pPr indent="0" marL="0">
              <a:buNone/>
            </a:pPr>
            <a:r>
              <a:rPr lang="en-US" sz="1250" b="1" dirty="0">
                <a:solidFill>
                  <a:schemeClr val="accent2"/>
                </a:solidFill>
                <a:latin typeface="Courier New" pitchFamily="34" charset="0"/>
                <a:ea typeface="Courier New" pitchFamily="34" charset="-122"/>
                <a:cs typeface="Courier New" pitchFamily="34" charset="-120"/>
              </a:rPr>
              <a:t>firestore.rules</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match /users/{uid}/**</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allow read, write:</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if request.auth.uid</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 uid;</a:t>
            </a:r>
            <a:endParaRPr lang="en-US" sz="1250" dirty="0"/>
          </a:p>
        </p:txBody>
      </p:sp>
      <p:sp>
        <p:nvSpPr>
          <p:cNvPr id="8" name="Data bullets"/>
          <p:cNvSpPr txBox="1"/>
          <p:nvPr/>
        </p:nvSpPr>
        <p:spPr>
          <a:xfrm>
            <a:off x="5669280" y="3703320"/>
            <a:ext cx="3017520" cy="868680"/>
          </a:xfrm>
          <a:prstGeom prst="rect">
            <a:avLst/>
          </a:prstGeom>
          <a:noFill/>
          <a:ln/>
        </p:spPr>
        <p:txBody>
          <a:bodyPr wrap="square" lIns="0" tIns="0" rIns="0" bIns="0" rtlCol="0" anchor="t"/>
          <a:lstStyle/>
          <a:p>
            <a:pPr marL="342900" indent="-342900">
              <a:buSzPct val="100000"/>
              <a:buChar char="•"/>
            </a:pPr>
            <a:r>
              <a:rPr lang="en-US" sz="1300" dirty="0">
                <a:solidFill>
                  <a:schemeClr val="tx1"/>
                </a:solidFill>
              </a:rPr>
              <a:t>Offline cache and sync</a:t>
            </a:r>
            <a:endParaRPr lang="en-US" sz="1300" dirty="0"/>
          </a:p>
          <a:p>
            <a:pPr marL="342900" indent="-342900">
              <a:buSzPct val="100000"/>
              <a:buChar char="•"/>
            </a:pPr>
            <a:r>
              <a:rPr lang="en-US" sz="1300" dirty="0">
                <a:solidFill>
                  <a:schemeClr val="tx1"/>
                </a:solidFill>
              </a:rPr>
              <a:t>Real-time listeners</a:t>
            </a:r>
            <a:endParaRPr lang="en-US" sz="1300" dirty="0"/>
          </a:p>
          <a:p>
            <a:pPr marL="342900" indent="-342900">
              <a:buSzPct val="100000"/>
              <a:buChar char="•"/>
            </a:pPr>
            <a:r>
              <a:rPr lang="en-US" sz="1300" dirty="0">
                <a:solidFill>
                  <a:schemeClr val="tx1"/>
                </a:solidFill>
              </a:rPr>
              <a:t>Escaped user text</a:t>
            </a:r>
            <a:endParaRPr lang="en-US" sz="1300" dirty="0"/>
          </a:p>
          <a:p>
            <a:pPr marL="342900" indent="-342900">
              <a:buSzPct val="100000"/>
              <a:buChar char="•"/>
            </a:pPr>
            <a:r>
              <a:rPr lang="en-US" sz="1300" dirty="0">
                <a:solidFill>
                  <a:schemeClr val="tx1"/>
                </a:solidFill>
              </a:rPr>
              <a:t>Custom categories in customCats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AI features and prompt design</a:t>
            </a:r>
            <a:endParaRPr lang="en-US" sz="3000" dirty="0"/>
          </a:p>
        </p:txBody>
      </p:sp>
      <p:sp>
        <p:nvSpPr>
          <p:cNvPr id="3" name="AI row 1"/>
          <p:cNvSpPr/>
          <p:nvPr/>
        </p:nvSpPr>
        <p:spPr>
          <a:xfrm>
            <a:off x="457200" y="1188720"/>
            <a:ext cx="4754880" cy="749808"/>
          </a:xfrm>
          <a:prstGeom prst="roundRect">
            <a:avLst>
              <a:gd name="adj" fmla="val 14634"/>
            </a:avLst>
          </a:prstGeom>
          <a:solidFill>
            <a:schemeClr val="bg2"/>
          </a:solidFill>
          <a:ln w="12700">
            <a:solidFill>
              <a:schemeClr val="bg2"/>
            </a:solidFill>
            <a:prstDash val="solid"/>
          </a:ln>
        </p:spPr>
      </p:sp>
      <p:sp>
        <p:nvSpPr>
          <p:cNvPr id="4" name="AI icon 1 circle"/>
          <p:cNvSpPr/>
          <p:nvPr/>
        </p:nvSpPr>
        <p:spPr>
          <a:xfrm>
            <a:off x="594360" y="1316736"/>
            <a:ext cx="493776" cy="493776"/>
          </a:xfrm>
          <a:prstGeom prst="ellipse">
            <a:avLst/>
          </a:prstGeom>
          <a:solidFill>
            <a:schemeClr val="accent1"/>
          </a:solidFill>
          <a:ln w="12700">
            <a:solidFill>
              <a:schemeClr val="accent1"/>
            </a:solidFill>
            <a:prstDash val="solid"/>
          </a:ln>
        </p:spPr>
      </p:sp>
      <p:pic>
        <p:nvPicPr>
          <p:cNvPr id="5" name="AI icon 1 icon" descr="AI icon 1">    </p:cNvPr>
          <p:cNvPicPr>
            <a:picLocks noChangeAspect="1"/>
          </p:cNvPicPr>
          <p:nvPr/>
        </p:nvPicPr>
        <p:blipFill>
          <a:blip r:embed="rId1"/>
          <a:stretch>
            <a:fillRect/>
          </a:stretch>
        </p:blipFill>
        <p:spPr>
          <a:xfrm>
            <a:off x="722742" y="1445118"/>
            <a:ext cx="237012" cy="237012"/>
          </a:xfrm>
          <a:prstGeom prst="rect">
            <a:avLst/>
          </a:prstGeom>
        </p:spPr>
      </p:pic>
      <p:sp>
        <p:nvSpPr>
          <p:cNvPr id="6" name="AI head 1"/>
          <p:cNvSpPr txBox="1"/>
          <p:nvPr/>
        </p:nvSpPr>
        <p:spPr>
          <a:xfrm>
            <a:off x="1280160" y="1261872"/>
            <a:ext cx="3840480" cy="274320"/>
          </a:xfrm>
          <a:prstGeom prst="rect">
            <a:avLst/>
          </a:prstGeom>
          <a:noFill/>
          <a:ln/>
        </p:spPr>
        <p:txBody>
          <a:bodyPr wrap="square" lIns="0" tIns="0" rIns="0" bIns="0" rtlCol="0" anchor="ctr"/>
          <a:lstStyle/>
          <a:p>
            <a:pPr indent="0" marL="0">
              <a:buNone/>
            </a:pPr>
            <a:r>
              <a:rPr lang="en-US" sz="1400" b="1" dirty="0">
                <a:solidFill>
                  <a:schemeClr val="tx2"/>
                </a:solidFill>
              </a:rPr>
              <a:t>Quick add</a:t>
            </a:r>
            <a:endParaRPr lang="en-US" sz="1400" dirty="0"/>
          </a:p>
        </p:txBody>
      </p:sp>
      <p:sp>
        <p:nvSpPr>
          <p:cNvPr id="7" name="AI text 1"/>
          <p:cNvSpPr txBox="1"/>
          <p:nvPr/>
        </p:nvSpPr>
        <p:spPr>
          <a:xfrm>
            <a:off x="1280160" y="1554480"/>
            <a:ext cx="3840480" cy="320040"/>
          </a:xfrm>
          <a:prstGeom prst="rect">
            <a:avLst/>
          </a:prstGeom>
          <a:noFill/>
          <a:ln/>
        </p:spPr>
        <p:txBody>
          <a:bodyPr wrap="square" lIns="0" tIns="0" rIns="0" bIns="0" rtlCol="0" anchor="t"/>
          <a:lstStyle/>
          <a:p>
            <a:pPr indent="0" marL="0">
              <a:buNone/>
            </a:pPr>
            <a:r>
              <a:rPr lang="en-US" sz="1200" dirty="0">
                <a:solidFill>
                  <a:schemeClr val="tx1"/>
                </a:solidFill>
              </a:rPr>
              <a:t>Free text or bank SMS becomes a pre-filled form</a:t>
            </a:r>
            <a:endParaRPr lang="en-US" sz="1200" dirty="0"/>
          </a:p>
        </p:txBody>
      </p:sp>
      <p:sp>
        <p:nvSpPr>
          <p:cNvPr id="8" name="AI row 2"/>
          <p:cNvSpPr/>
          <p:nvPr/>
        </p:nvSpPr>
        <p:spPr>
          <a:xfrm>
            <a:off x="457200" y="2057400"/>
            <a:ext cx="4754880" cy="749808"/>
          </a:xfrm>
          <a:prstGeom prst="roundRect">
            <a:avLst>
              <a:gd name="adj" fmla="val 14634"/>
            </a:avLst>
          </a:prstGeom>
          <a:solidFill>
            <a:schemeClr val="bg2"/>
          </a:solidFill>
          <a:ln w="12700">
            <a:solidFill>
              <a:schemeClr val="bg2"/>
            </a:solidFill>
            <a:prstDash val="solid"/>
          </a:ln>
        </p:spPr>
      </p:sp>
      <p:sp>
        <p:nvSpPr>
          <p:cNvPr id="9" name="AI icon 2 circle"/>
          <p:cNvSpPr/>
          <p:nvPr/>
        </p:nvSpPr>
        <p:spPr>
          <a:xfrm>
            <a:off x="594360" y="2185416"/>
            <a:ext cx="493776" cy="493776"/>
          </a:xfrm>
          <a:prstGeom prst="ellipse">
            <a:avLst/>
          </a:prstGeom>
          <a:solidFill>
            <a:schemeClr val="accent1"/>
          </a:solidFill>
          <a:ln w="12700">
            <a:solidFill>
              <a:schemeClr val="accent1"/>
            </a:solidFill>
            <a:prstDash val="solid"/>
          </a:ln>
        </p:spPr>
      </p:sp>
      <p:pic>
        <p:nvPicPr>
          <p:cNvPr id="10" name="AI icon 2 icon" descr="AI icon 2">    </p:cNvPr>
          <p:cNvPicPr>
            <a:picLocks noChangeAspect="1"/>
          </p:cNvPicPr>
          <p:nvPr/>
        </p:nvPicPr>
        <p:blipFill>
          <a:blip r:embed="rId2"/>
          <a:stretch>
            <a:fillRect/>
          </a:stretch>
        </p:blipFill>
        <p:spPr>
          <a:xfrm>
            <a:off x="722742" y="2313798"/>
            <a:ext cx="237012" cy="237012"/>
          </a:xfrm>
          <a:prstGeom prst="rect">
            <a:avLst/>
          </a:prstGeom>
        </p:spPr>
      </p:pic>
      <p:sp>
        <p:nvSpPr>
          <p:cNvPr id="11" name="AI head 2"/>
          <p:cNvSpPr txBox="1"/>
          <p:nvPr/>
        </p:nvSpPr>
        <p:spPr>
          <a:xfrm>
            <a:off x="1280160" y="2130552"/>
            <a:ext cx="3840480" cy="274320"/>
          </a:xfrm>
          <a:prstGeom prst="rect">
            <a:avLst/>
          </a:prstGeom>
          <a:noFill/>
          <a:ln/>
        </p:spPr>
        <p:txBody>
          <a:bodyPr wrap="square" lIns="0" tIns="0" rIns="0" bIns="0" rtlCol="0" anchor="ctr"/>
          <a:lstStyle/>
          <a:p>
            <a:pPr indent="0" marL="0">
              <a:buNone/>
            </a:pPr>
            <a:r>
              <a:rPr lang="en-US" sz="1400" b="1" dirty="0">
                <a:solidFill>
                  <a:schemeClr val="tx2"/>
                </a:solidFill>
              </a:rPr>
              <a:t>Ask your spending</a:t>
            </a:r>
            <a:endParaRPr lang="en-US" sz="1400" dirty="0"/>
          </a:p>
        </p:txBody>
      </p:sp>
      <p:sp>
        <p:nvSpPr>
          <p:cNvPr id="12" name="AI text 2"/>
          <p:cNvSpPr txBox="1"/>
          <p:nvPr/>
        </p:nvSpPr>
        <p:spPr>
          <a:xfrm>
            <a:off x="1280160" y="2423160"/>
            <a:ext cx="3840480" cy="320040"/>
          </a:xfrm>
          <a:prstGeom prst="rect">
            <a:avLst/>
          </a:prstGeom>
          <a:noFill/>
          <a:ln/>
        </p:spPr>
        <p:txBody>
          <a:bodyPr wrap="square" lIns="0" tIns="0" rIns="0" bIns="0" rtlCol="0" anchor="t"/>
          <a:lstStyle/>
          <a:p>
            <a:pPr indent="0" marL="0">
              <a:buNone/>
            </a:pPr>
            <a:r>
              <a:rPr lang="en-US" sz="1200" dirty="0">
                <a:solidFill>
                  <a:schemeClr val="tx1"/>
                </a:solidFill>
              </a:rPr>
              <a:t>Answers only from your own data</a:t>
            </a:r>
            <a:endParaRPr lang="en-US" sz="1200" dirty="0"/>
          </a:p>
        </p:txBody>
      </p:sp>
      <p:sp>
        <p:nvSpPr>
          <p:cNvPr id="13" name="AI row 3"/>
          <p:cNvSpPr/>
          <p:nvPr/>
        </p:nvSpPr>
        <p:spPr>
          <a:xfrm>
            <a:off x="457200" y="2926080"/>
            <a:ext cx="4754880" cy="749808"/>
          </a:xfrm>
          <a:prstGeom prst="roundRect">
            <a:avLst>
              <a:gd name="adj" fmla="val 14634"/>
            </a:avLst>
          </a:prstGeom>
          <a:solidFill>
            <a:schemeClr val="bg2"/>
          </a:solidFill>
          <a:ln w="12700">
            <a:solidFill>
              <a:schemeClr val="bg2"/>
            </a:solidFill>
            <a:prstDash val="solid"/>
          </a:ln>
        </p:spPr>
      </p:sp>
      <p:sp>
        <p:nvSpPr>
          <p:cNvPr id="14" name="AI icon 3 circle"/>
          <p:cNvSpPr/>
          <p:nvPr/>
        </p:nvSpPr>
        <p:spPr>
          <a:xfrm>
            <a:off x="594360" y="3054096"/>
            <a:ext cx="493776" cy="493776"/>
          </a:xfrm>
          <a:prstGeom prst="ellipse">
            <a:avLst/>
          </a:prstGeom>
          <a:solidFill>
            <a:schemeClr val="accent1"/>
          </a:solidFill>
          <a:ln w="12700">
            <a:solidFill>
              <a:schemeClr val="accent1"/>
            </a:solidFill>
            <a:prstDash val="solid"/>
          </a:ln>
        </p:spPr>
      </p:sp>
      <p:pic>
        <p:nvPicPr>
          <p:cNvPr id="15" name="AI icon 3 icon" descr="AI icon 3">    </p:cNvPr>
          <p:cNvPicPr>
            <a:picLocks noChangeAspect="1"/>
          </p:cNvPicPr>
          <p:nvPr/>
        </p:nvPicPr>
        <p:blipFill>
          <a:blip r:embed="rId3"/>
          <a:stretch>
            <a:fillRect/>
          </a:stretch>
        </p:blipFill>
        <p:spPr>
          <a:xfrm>
            <a:off x="722742" y="3182478"/>
            <a:ext cx="237012" cy="237012"/>
          </a:xfrm>
          <a:prstGeom prst="rect">
            <a:avLst/>
          </a:prstGeom>
        </p:spPr>
      </p:pic>
      <p:sp>
        <p:nvSpPr>
          <p:cNvPr id="16" name="AI head 3"/>
          <p:cNvSpPr txBox="1"/>
          <p:nvPr/>
        </p:nvSpPr>
        <p:spPr>
          <a:xfrm>
            <a:off x="1280160" y="2999232"/>
            <a:ext cx="3840480" cy="274320"/>
          </a:xfrm>
          <a:prstGeom prst="rect">
            <a:avLst/>
          </a:prstGeom>
          <a:noFill/>
          <a:ln/>
        </p:spPr>
        <p:txBody>
          <a:bodyPr wrap="square" lIns="0" tIns="0" rIns="0" bIns="0" rtlCol="0" anchor="ctr"/>
          <a:lstStyle/>
          <a:p>
            <a:pPr indent="0" marL="0">
              <a:buNone/>
            </a:pPr>
            <a:r>
              <a:rPr lang="en-US" sz="1400" b="1" dirty="0">
                <a:solidFill>
                  <a:schemeClr val="tx2"/>
                </a:solidFill>
              </a:rPr>
              <a:t>Auto-category</a:t>
            </a:r>
            <a:endParaRPr lang="en-US" sz="1400" dirty="0"/>
          </a:p>
        </p:txBody>
      </p:sp>
      <p:sp>
        <p:nvSpPr>
          <p:cNvPr id="17" name="AI text 3"/>
          <p:cNvSpPr txBox="1"/>
          <p:nvPr/>
        </p:nvSpPr>
        <p:spPr>
          <a:xfrm>
            <a:off x="1280160" y="3291840"/>
            <a:ext cx="3840480" cy="320040"/>
          </a:xfrm>
          <a:prstGeom prst="rect">
            <a:avLst/>
          </a:prstGeom>
          <a:noFill/>
          <a:ln/>
        </p:spPr>
        <p:txBody>
          <a:bodyPr wrap="square" lIns="0" tIns="0" rIns="0" bIns="0" rtlCol="0" anchor="t"/>
          <a:lstStyle/>
          <a:p>
            <a:pPr indent="0" marL="0">
              <a:buNone/>
            </a:pPr>
            <a:r>
              <a:rPr lang="en-US" sz="1200" dirty="0">
                <a:solidFill>
                  <a:schemeClr val="tx1"/>
                </a:solidFill>
              </a:rPr>
              <a:t>Suggests one of your categories</a:t>
            </a:r>
            <a:endParaRPr lang="en-US" sz="1200" dirty="0"/>
          </a:p>
        </p:txBody>
      </p:sp>
      <p:sp>
        <p:nvSpPr>
          <p:cNvPr id="18" name="AI row 4"/>
          <p:cNvSpPr/>
          <p:nvPr/>
        </p:nvSpPr>
        <p:spPr>
          <a:xfrm>
            <a:off x="457200" y="3794760"/>
            <a:ext cx="4754880" cy="749808"/>
          </a:xfrm>
          <a:prstGeom prst="roundRect">
            <a:avLst>
              <a:gd name="adj" fmla="val 14634"/>
            </a:avLst>
          </a:prstGeom>
          <a:solidFill>
            <a:schemeClr val="bg2"/>
          </a:solidFill>
          <a:ln w="12700">
            <a:solidFill>
              <a:schemeClr val="bg2"/>
            </a:solidFill>
            <a:prstDash val="solid"/>
          </a:ln>
        </p:spPr>
      </p:sp>
      <p:sp>
        <p:nvSpPr>
          <p:cNvPr id="19" name="AI icon 4 circle"/>
          <p:cNvSpPr/>
          <p:nvPr/>
        </p:nvSpPr>
        <p:spPr>
          <a:xfrm>
            <a:off x="594360" y="3922776"/>
            <a:ext cx="493776" cy="493776"/>
          </a:xfrm>
          <a:prstGeom prst="ellipse">
            <a:avLst/>
          </a:prstGeom>
          <a:solidFill>
            <a:schemeClr val="accent1"/>
          </a:solidFill>
          <a:ln w="12700">
            <a:solidFill>
              <a:schemeClr val="accent1"/>
            </a:solidFill>
            <a:prstDash val="solid"/>
          </a:ln>
        </p:spPr>
      </p:sp>
      <p:pic>
        <p:nvPicPr>
          <p:cNvPr id="20" name="AI icon 4 icon" descr="AI icon 4">    </p:cNvPr>
          <p:cNvPicPr>
            <a:picLocks noChangeAspect="1"/>
          </p:cNvPicPr>
          <p:nvPr/>
        </p:nvPicPr>
        <p:blipFill>
          <a:blip r:embed="rId4"/>
          <a:stretch>
            <a:fillRect/>
          </a:stretch>
        </p:blipFill>
        <p:spPr>
          <a:xfrm>
            <a:off x="722742" y="4051158"/>
            <a:ext cx="237012" cy="237012"/>
          </a:xfrm>
          <a:prstGeom prst="rect">
            <a:avLst/>
          </a:prstGeom>
        </p:spPr>
      </p:pic>
      <p:sp>
        <p:nvSpPr>
          <p:cNvPr id="21" name="AI head 4"/>
          <p:cNvSpPr txBox="1"/>
          <p:nvPr/>
        </p:nvSpPr>
        <p:spPr>
          <a:xfrm>
            <a:off x="1280160" y="3867912"/>
            <a:ext cx="3840480" cy="274320"/>
          </a:xfrm>
          <a:prstGeom prst="rect">
            <a:avLst/>
          </a:prstGeom>
          <a:noFill/>
          <a:ln/>
        </p:spPr>
        <p:txBody>
          <a:bodyPr wrap="square" lIns="0" tIns="0" rIns="0" bIns="0" rtlCol="0" anchor="ctr"/>
          <a:lstStyle/>
          <a:p>
            <a:pPr indent="0" marL="0">
              <a:buNone/>
            </a:pPr>
            <a:r>
              <a:rPr lang="en-US" sz="1400" b="1" dirty="0">
                <a:solidFill>
                  <a:schemeClr val="tx2"/>
                </a:solidFill>
              </a:rPr>
              <a:t>Monthly review</a:t>
            </a:r>
            <a:endParaRPr lang="en-US" sz="1400" dirty="0"/>
          </a:p>
        </p:txBody>
      </p:sp>
      <p:sp>
        <p:nvSpPr>
          <p:cNvPr id="22" name="AI text 4"/>
          <p:cNvSpPr txBox="1"/>
          <p:nvPr/>
        </p:nvSpPr>
        <p:spPr>
          <a:xfrm>
            <a:off x="1280160" y="4160520"/>
            <a:ext cx="3840480" cy="320040"/>
          </a:xfrm>
          <a:prstGeom prst="rect">
            <a:avLst/>
          </a:prstGeom>
          <a:noFill/>
          <a:ln/>
        </p:spPr>
        <p:txBody>
          <a:bodyPr wrap="square" lIns="0" tIns="0" rIns="0" bIns="0" rtlCol="0" anchor="t"/>
          <a:lstStyle/>
          <a:p>
            <a:pPr indent="0" marL="0">
              <a:buNone/>
            </a:pPr>
            <a:r>
              <a:rPr lang="en-US" sz="1200" dirty="0">
                <a:solidFill>
                  <a:schemeClr val="tx1"/>
                </a:solidFill>
              </a:rPr>
              <a:t>Overview, 2 highlights, 2 suggestions</a:t>
            </a:r>
            <a:endParaRPr lang="en-US" sz="1200" dirty="0"/>
          </a:p>
        </p:txBody>
      </p:sp>
      <p:sp>
        <p:nvSpPr>
          <p:cNvPr id="23" name="Prompt card"/>
          <p:cNvSpPr/>
          <p:nvPr/>
        </p:nvSpPr>
        <p:spPr>
          <a:xfrm>
            <a:off x="5486400" y="1188720"/>
            <a:ext cx="3200400" cy="3383280"/>
          </a:xfrm>
          <a:prstGeom prst="roundRect">
            <a:avLst>
              <a:gd name="adj" fmla="val 2857"/>
            </a:avLst>
          </a:prstGeom>
          <a:solidFill>
            <a:schemeClr val="tx2"/>
          </a:solidFill>
          <a:ln w="12700">
            <a:solidFill>
              <a:schemeClr val="tx2"/>
            </a:solidFill>
            <a:prstDash val="solid"/>
          </a:ln>
        </p:spPr>
      </p:sp>
      <p:sp>
        <p:nvSpPr>
          <p:cNvPr id="24" name="Prompt head"/>
          <p:cNvSpPr txBox="1"/>
          <p:nvPr/>
        </p:nvSpPr>
        <p:spPr>
          <a:xfrm>
            <a:off x="5715000" y="1325880"/>
            <a:ext cx="2743200" cy="365760"/>
          </a:xfrm>
          <a:prstGeom prst="rect">
            <a:avLst/>
          </a:prstGeom>
          <a:noFill/>
          <a:ln/>
        </p:spPr>
        <p:txBody>
          <a:bodyPr wrap="square" lIns="0" tIns="0" rIns="0" bIns="0" rtlCol="0" anchor="ctr"/>
          <a:lstStyle/>
          <a:p>
            <a:pPr indent="0" marL="0">
              <a:buNone/>
            </a:pPr>
            <a:r>
              <a:rPr lang="en-US" sz="1700" b="1" dirty="0">
                <a:solidFill>
                  <a:schemeClr val="accent2"/>
                </a:solidFill>
                <a:latin typeface="Cambria" pitchFamily="34" charset="0"/>
                <a:ea typeface="Cambria" pitchFamily="34" charset="-122"/>
                <a:cs typeface="Cambria" pitchFamily="34" charset="-120"/>
              </a:rPr>
              <a:t>Prompt design</a:t>
            </a:r>
            <a:endParaRPr lang="en-US" sz="1700" dirty="0"/>
          </a:p>
        </p:txBody>
      </p:sp>
      <p:sp>
        <p:nvSpPr>
          <p:cNvPr id="25" name="Prompt list"/>
          <p:cNvSpPr txBox="1"/>
          <p:nvPr/>
        </p:nvSpPr>
        <p:spPr>
          <a:xfrm>
            <a:off x="5715000" y="1828800"/>
            <a:ext cx="2743200" cy="2651760"/>
          </a:xfrm>
          <a:prstGeom prst="rect">
            <a:avLst/>
          </a:prstGeom>
          <a:noFill/>
          <a:ln/>
        </p:spPr>
        <p:txBody>
          <a:bodyPr wrap="square" lIns="0" tIns="0" rIns="0" bIns="0" rtlCol="0" anchor="t"/>
          <a:lstStyle/>
          <a:p>
            <a:pPr marL="342900" indent="-342900">
              <a:spcAft>
                <a:spcPts val="1400"/>
              </a:spcAft>
              <a:buSzPct val="100000"/>
              <a:buChar char="•"/>
            </a:pPr>
            <a:r>
              <a:rPr lang="en-US" sz="1450" dirty="0">
                <a:solidFill>
                  <a:schemeClr val="bg1"/>
                </a:solidFill>
              </a:rPr>
              <a:t>JSON mode with fixed allowed values</a:t>
            </a:r>
            <a:endParaRPr lang="en-US" sz="1450" dirty="0"/>
          </a:p>
          <a:p>
            <a:pPr marL="342900" indent="-342900">
              <a:spcAft>
                <a:spcPts val="1400"/>
              </a:spcAft>
              <a:buSzPct val="100000"/>
              <a:buChar char="•"/>
            </a:pPr>
            <a:r>
              <a:rPr lang="en-US" sz="1450" dirty="0">
                <a:solidFill>
                  <a:schemeClr val="bg1"/>
                </a:solidFill>
              </a:rPr>
              <a:t>Grounded: answer only from supplied data</a:t>
            </a:r>
            <a:endParaRPr lang="en-US" sz="1450" dirty="0"/>
          </a:p>
          <a:p>
            <a:pPr marL="342900" indent="-342900">
              <a:spcAft>
                <a:spcPts val="1400"/>
              </a:spcAft>
              <a:buSzPct val="100000"/>
              <a:buChar char="•"/>
            </a:pPr>
            <a:r>
              <a:rPr lang="en-US" sz="1450" dirty="0">
                <a:solidFill>
                  <a:schemeClr val="bg1"/>
                </a:solidFill>
              </a:rPr>
              <a:t>Titles and notes treated as data, not instructions</a:t>
            </a:r>
            <a:endParaRPr lang="en-US" sz="1450" dirty="0"/>
          </a:p>
          <a:p>
            <a:pPr marL="342900" indent="-342900">
              <a:spcAft>
                <a:spcPts val="1400"/>
              </a:spcAft>
              <a:buSzPct val="100000"/>
              <a:buChar char="•"/>
            </a:pPr>
            <a:r>
              <a:rPr lang="en-US" sz="1450" dirty="0">
                <a:solidFill>
                  <a:schemeClr val="bg1"/>
                </a:solidFill>
              </a:rPr>
              <a:t>AI fills the form; the user confirms</a:t>
            </a:r>
            <a:endParaRPr lang="en-US" sz="14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Backend API and testing</a:t>
            </a:r>
            <a:endParaRPr lang="en-US" sz="3000" dirty="0"/>
          </a:p>
        </p:txBody>
      </p:sp>
      <p:sp>
        <p:nvSpPr>
          <p:cNvPr id="3" name="API card"/>
          <p:cNvSpPr/>
          <p:nvPr/>
        </p:nvSpPr>
        <p:spPr>
          <a:xfrm>
            <a:off x="457200" y="1188720"/>
            <a:ext cx="4572000" cy="3383280"/>
          </a:xfrm>
          <a:prstGeom prst="roundRect">
            <a:avLst>
              <a:gd name="adj" fmla="val 3243"/>
            </a:avLst>
          </a:prstGeom>
          <a:solidFill>
            <a:schemeClr val="bg2"/>
          </a:solidFill>
          <a:ln w="12700">
            <a:solidFill>
              <a:schemeClr val="bg2"/>
            </a:solidFill>
            <a:prstDash val="solid"/>
          </a:ln>
        </p:spPr>
      </p:sp>
      <p:sp>
        <p:nvSpPr>
          <p:cNvPr id="4" name="API head"/>
          <p:cNvSpPr txBox="1"/>
          <p:nvPr/>
        </p:nvSpPr>
        <p:spPr>
          <a:xfrm>
            <a:off x="685800" y="1325880"/>
            <a:ext cx="4114800" cy="36576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FastAPI endpoints</a:t>
            </a:r>
            <a:endParaRPr lang="en-US" sz="1700" dirty="0"/>
          </a:p>
        </p:txBody>
      </p:sp>
      <p:graphicFrame>
        <p:nvGraphicFramePr>
          <p:cNvPr id="11" name="API table"/>
          <p:cNvGraphicFramePr>
            <a:graphicFrameLocks noGrp="1"/>
          </p:cNvGraphicFramePr>
          <p:nvPr>
            <p:extLst>
              <p:ext uri="{D42A27DB-BD31-4B8C-83A1-F6EECF244321}">
                <p14:modId xmlns:p14="http://schemas.microsoft.com/office/powerpoint/2010/main" val="1579011935"/>
              </p:ext>
            </p:extLst>
          </p:nvPr>
        </p:nvGraphicFramePr>
        <p:xfrm>
          <a:off x="685800" y="1783080"/>
          <a:ext cx="4114800" cy="914400"/>
        </p:xfrm>
        <a:graphic>
          <a:graphicData uri="http://schemas.openxmlformats.org/drawingml/2006/table">
            <a:tbl>
              <a:tblPr/>
              <a:tblGrid>
                <a:gridCol w="1737360"/>
                <a:gridCol w="2377440"/>
              </a:tblGrid>
              <a:tr h="384048">
                <a:tc>
                  <a:txBody>
                    <a:bodyPr/>
                    <a:lstStyle/>
                    <a:p>
                      <a:pPr indent="0" marL="0">
                        <a:buNone/>
                      </a:pPr>
                      <a:r>
                        <a:rPr lang="en-US" sz="1200" b="1" dirty="0">
                          <a:solidFill>
                            <a:schemeClr val="bg1"/>
                          </a:solidFill>
                        </a:rPr>
                        <a:t>Route</a:t>
                      </a:r>
                      <a:endParaRPr lang="en-US" sz="1200" dirty="0"/>
                    </a:p>
                  </a:txBody>
                  <a:tcPr marL="91440" marR="91440"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Purpose</a:t>
                      </a:r>
                      <a:endParaRPr lang="en-US" sz="1200" dirty="0"/>
                    </a:p>
                  </a:txBody>
                  <a:tcPr marL="91440" marR="91440"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accent1"/>
                    </a:solidFill>
                  </a:tcPr>
                </a:tc>
              </a:tr>
              <a:tr h="384048">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GET /api/health</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Status, key configured, model</a:t>
                      </a:r>
                      <a:endParaRPr lang="en-US" sz="1200" dirty="0"/>
                    </a:p>
                  </a:txBody>
                  <a:tcPr marL="91440" marR="91440"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r>
              <a:tr h="384048">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POST /api/ai</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Groq chat, needs Firebase token</a:t>
                      </a:r>
                      <a:endParaRPr lang="en-US" sz="1200" dirty="0"/>
                    </a:p>
                  </a:txBody>
                  <a:tcPr marL="91440" marR="91440"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r>
            </a:tbl>
          </a:graphicData>
        </a:graphic>
      </p:graphicFrame>
      <p:sp>
        <p:nvSpPr>
          <p:cNvPr id="6" name="API limits"/>
          <p:cNvSpPr txBox="1"/>
          <p:nvPr/>
        </p:nvSpPr>
        <p:spPr>
          <a:xfrm>
            <a:off x="685800" y="3108960"/>
            <a:ext cx="4114800" cy="13716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1 to 6 messages, 12,000 characters each</a:t>
            </a:r>
            <a:endParaRPr lang="en-US" sz="1300" dirty="0"/>
          </a:p>
          <a:p>
            <a:pPr marL="342900" indent="-342900">
              <a:spcAft>
                <a:spcPts val="500"/>
              </a:spcAft>
              <a:buSzPct val="100000"/>
              <a:buChar char="•"/>
            </a:pPr>
            <a:r>
              <a:rPr lang="en-US" sz="1300" dirty="0">
                <a:solidFill>
                  <a:schemeClr val="tx1"/>
                </a:solidFill>
              </a:rPr>
              <a:t>30 requests per minute per user</a:t>
            </a:r>
            <a:endParaRPr lang="en-US" sz="1300" dirty="0"/>
          </a:p>
          <a:p>
            <a:pPr marL="342900" indent="-342900">
              <a:spcAft>
                <a:spcPts val="500"/>
              </a:spcAft>
              <a:buSzPct val="100000"/>
              <a:buChar char="•"/>
            </a:pPr>
            <a:r>
              <a:rPr lang="en-US" sz="1300" dirty="0">
                <a:solidFill>
                  <a:schemeClr val="tx1"/>
                </a:solidFill>
              </a:rPr>
              <a:t>CORS limited to allowed origins</a:t>
            </a:r>
            <a:endParaRPr lang="en-US" sz="1300" dirty="0"/>
          </a:p>
          <a:p>
            <a:pPr marL="342900" indent="-342900">
              <a:spcAft>
                <a:spcPts val="500"/>
              </a:spcAft>
              <a:buSzPct val="100000"/>
              <a:buChar char="•"/>
            </a:pPr>
            <a:r>
              <a:rPr lang="en-US" sz="1300" dirty="0">
                <a:solidFill>
                  <a:schemeClr val="tx1"/>
                </a:solidFill>
              </a:rPr>
              <a:t>Groq errors mapped to clear messages</a:t>
            </a:r>
            <a:endParaRPr lang="en-US" sz="1300" dirty="0"/>
          </a:p>
        </p:txBody>
      </p:sp>
      <p:sp>
        <p:nvSpPr>
          <p:cNvPr id="7" name="Test card"/>
          <p:cNvSpPr/>
          <p:nvPr/>
        </p:nvSpPr>
        <p:spPr>
          <a:xfrm>
            <a:off x="5303520" y="1188720"/>
            <a:ext cx="3383280" cy="3383280"/>
          </a:xfrm>
          <a:prstGeom prst="roundRect">
            <a:avLst>
              <a:gd name="adj" fmla="val 3243"/>
            </a:avLst>
          </a:prstGeom>
          <a:solidFill>
            <a:schemeClr val="accent1"/>
          </a:solidFill>
          <a:ln w="12700">
            <a:solidFill>
              <a:schemeClr val="accent1"/>
            </a:solidFill>
            <a:prstDash val="solid"/>
          </a:ln>
          <a:effectLst>
            <a:outerShdw sx="100000" sy="100000" kx="0" ky="0" algn="bl" rotWithShape="0" blurRad="101600" dist="25400" dir="5400000">
              <a:srgbClr val="000000">
                <a:alpha val="12000"/>
              </a:srgbClr>
            </a:outerShdw>
          </a:effectLst>
        </p:spPr>
      </p:sp>
      <p:sp>
        <p:nvSpPr>
          <p:cNvPr id="8" name="Test stat"/>
          <p:cNvSpPr txBox="1"/>
          <p:nvPr/>
        </p:nvSpPr>
        <p:spPr>
          <a:xfrm>
            <a:off x="5303520" y="1371600"/>
            <a:ext cx="3383280" cy="914400"/>
          </a:xfrm>
          <a:prstGeom prst="rect">
            <a:avLst/>
          </a:prstGeom>
          <a:noFill/>
          <a:ln/>
        </p:spPr>
        <p:txBody>
          <a:bodyPr wrap="square" lIns="0" tIns="0" rIns="0" bIns="0" rtlCol="0" anchor="ctr"/>
          <a:lstStyle/>
          <a:p>
            <a:pPr algn="ctr" indent="0" marL="0">
              <a:buNone/>
            </a:pPr>
            <a:r>
              <a:rPr lang="en-US" sz="5200" b="1" dirty="0">
                <a:solidFill>
                  <a:schemeClr val="bg1"/>
                </a:solidFill>
                <a:latin typeface="Cambria" pitchFamily="34" charset="0"/>
                <a:ea typeface="Cambria" pitchFamily="34" charset="-122"/>
                <a:cs typeface="Cambria" pitchFamily="34" charset="-120"/>
              </a:rPr>
              <a:t>17 / 17</a:t>
            </a:r>
            <a:endParaRPr lang="en-US" sz="5200" dirty="0"/>
          </a:p>
        </p:txBody>
      </p:sp>
      <p:sp>
        <p:nvSpPr>
          <p:cNvPr id="9" name="Test label"/>
          <p:cNvSpPr txBox="1"/>
          <p:nvPr/>
        </p:nvSpPr>
        <p:spPr>
          <a:xfrm>
            <a:off x="5303520" y="2286000"/>
            <a:ext cx="3383280" cy="365760"/>
          </a:xfrm>
          <a:prstGeom prst="rect">
            <a:avLst/>
          </a:prstGeom>
          <a:noFill/>
          <a:ln/>
        </p:spPr>
        <p:txBody>
          <a:bodyPr wrap="square" lIns="0" tIns="0" rIns="0" bIns="0" rtlCol="0" anchor="ctr"/>
          <a:lstStyle/>
          <a:p>
            <a:pPr algn="ctr" indent="0" marL="0">
              <a:buNone/>
            </a:pPr>
            <a:r>
              <a:rPr lang="en-US" sz="1500" dirty="0">
                <a:solidFill>
                  <a:schemeClr val="bg2"/>
                </a:solidFill>
              </a:rPr>
              <a:t>pytest tests passing</a:t>
            </a:r>
            <a:endParaRPr lang="en-US" sz="1500" dirty="0"/>
          </a:p>
        </p:txBody>
      </p:sp>
      <p:sp>
        <p:nvSpPr>
          <p:cNvPr id="10" name="Test list"/>
          <p:cNvSpPr txBox="1"/>
          <p:nvPr/>
        </p:nvSpPr>
        <p:spPr>
          <a:xfrm>
            <a:off x="5669280" y="2880360"/>
            <a:ext cx="2834640" cy="15544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bg1"/>
                </a:solidFill>
              </a:rPr>
              <a:t>Validation and error mapping</a:t>
            </a:r>
            <a:endParaRPr lang="en-US" sz="1300" dirty="0"/>
          </a:p>
          <a:p>
            <a:pPr marL="342900" indent="-342900">
              <a:spcAft>
                <a:spcPts val="500"/>
              </a:spcAft>
              <a:buSzPct val="100000"/>
              <a:buChar char="•"/>
            </a:pPr>
            <a:r>
              <a:rPr lang="en-US" sz="1300" dirty="0">
                <a:solidFill>
                  <a:schemeClr val="bg1"/>
                </a:solidFill>
              </a:rPr>
              <a:t>Firebase token checks</a:t>
            </a:r>
            <a:endParaRPr lang="en-US" sz="1300" dirty="0"/>
          </a:p>
          <a:p>
            <a:pPr marL="342900" indent="-342900">
              <a:spcAft>
                <a:spcPts val="500"/>
              </a:spcAft>
              <a:buSzPct val="100000"/>
              <a:buChar char="•"/>
            </a:pPr>
            <a:r>
              <a:rPr lang="en-US" sz="1300" dirty="0">
                <a:solidFill>
                  <a:schemeClr val="bg1"/>
                </a:solidFill>
              </a:rPr>
              <a:t>Rate limit and CORS</a:t>
            </a:r>
            <a:endParaRPr lang="en-US" sz="1300" dirty="0"/>
          </a:p>
          <a:p>
            <a:pPr marL="342900" indent="-342900">
              <a:spcAft>
                <a:spcPts val="500"/>
              </a:spcAft>
              <a:buSzPct val="100000"/>
              <a:buChar char="•"/>
            </a:pPr>
            <a:r>
              <a:rPr lang="en-US" sz="1300" dirty="0">
                <a:solidFill>
                  <a:schemeClr val="bg1"/>
                </a:solidFill>
              </a:rPr>
              <a:t>Mocked Groq: no real calls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Deployment</a:t>
            </a:r>
            <a:endParaRPr lang="en-US" sz="3000" dirty="0"/>
          </a:p>
        </p:txBody>
      </p:sp>
      <p:sp>
        <p:nvSpPr>
          <p:cNvPr id="3" name="Deploy card 1"/>
          <p:cNvSpPr/>
          <p:nvPr/>
        </p:nvSpPr>
        <p:spPr>
          <a:xfrm>
            <a:off x="457200" y="1234440"/>
            <a:ext cx="2606040" cy="1920240"/>
          </a:xfrm>
          <a:prstGeom prst="roundRect">
            <a:avLst>
              <a:gd name="adj" fmla="val 5714"/>
            </a:avLst>
          </a:prstGeom>
          <a:solidFill>
            <a:schemeClr val="bg2"/>
          </a:solidFill>
          <a:ln w="12700">
            <a:solidFill>
              <a:schemeClr val="bg2"/>
            </a:solidFill>
            <a:prstDash val="solid"/>
          </a:ln>
        </p:spPr>
      </p:sp>
      <p:sp>
        <p:nvSpPr>
          <p:cNvPr id="4" name="Deploy badge 1"/>
          <p:cNvSpPr/>
          <p:nvPr/>
        </p:nvSpPr>
        <p:spPr>
          <a:xfrm>
            <a:off x="640080" y="1417320"/>
            <a:ext cx="502920" cy="502920"/>
          </a:xfrm>
          <a:prstGeom prst="ellipse">
            <a:avLst/>
          </a:prstGeom>
          <a:solidFill>
            <a:schemeClr val="accent1"/>
          </a:solidFill>
          <a:ln w="12700">
            <a:solidFill>
              <a:schemeClr val="accent1"/>
            </a:solidFill>
            <a:prstDash val="solid"/>
          </a:ln>
        </p:spPr>
      </p:sp>
      <p:sp>
        <p:nvSpPr>
          <p:cNvPr id="5" name="Deploy number 1"/>
          <p:cNvSpPr txBox="1"/>
          <p:nvPr/>
        </p:nvSpPr>
        <p:spPr>
          <a:xfrm>
            <a:off x="640080" y="14173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Deploy head 1"/>
          <p:cNvSpPr txBox="1"/>
          <p:nvPr/>
        </p:nvSpPr>
        <p:spPr>
          <a:xfrm>
            <a:off x="1280160" y="1417320"/>
            <a:ext cx="1691640" cy="502920"/>
          </a:xfrm>
          <a:prstGeom prst="rect">
            <a:avLst/>
          </a:prstGeom>
          <a:noFill/>
          <a:ln/>
        </p:spPr>
        <p:txBody>
          <a:bodyPr wrap="square" lIns="0" tIns="0" rIns="0" bIns="0" rtlCol="0" anchor="ctr"/>
          <a:lstStyle/>
          <a:p>
            <a:pPr indent="0" marL="0">
              <a:buNone/>
            </a:pPr>
            <a:r>
              <a:rPr lang="en-US" sz="1600" b="1" dirty="0">
                <a:solidFill>
                  <a:schemeClr val="tx2"/>
                </a:solidFill>
              </a:rPr>
              <a:t>GitHub</a:t>
            </a:r>
            <a:endParaRPr lang="en-US" sz="1600" dirty="0"/>
          </a:p>
        </p:txBody>
      </p:sp>
      <p:sp>
        <p:nvSpPr>
          <p:cNvPr id="7" name="Deploy text 1"/>
          <p:cNvSpPr txBox="1"/>
          <p:nvPr/>
        </p:nvSpPr>
        <p:spPr>
          <a:xfrm>
            <a:off x="640080" y="2057400"/>
            <a:ext cx="2286000" cy="1005840"/>
          </a:xfrm>
          <a:prstGeom prst="rect">
            <a:avLst/>
          </a:prstGeom>
          <a:noFill/>
          <a:ln/>
        </p:spPr>
        <p:txBody>
          <a:bodyPr wrap="square" lIns="0" tIns="0" rIns="0" bIns="0" rtlCol="0" anchor="t"/>
          <a:lstStyle/>
          <a:p>
            <a:pPr indent="0" marL="0">
              <a:buNone/>
            </a:pPr>
            <a:r>
              <a:rPr lang="en-US" sz="1250" dirty="0">
                <a:solidFill>
                  <a:schemeClr val="tx1"/>
                </a:solidFill>
              </a:rPr>
              <a:t>Push the project to a repository</a:t>
            </a:r>
            <a:endParaRPr lang="en-US" sz="1250" dirty="0"/>
          </a:p>
        </p:txBody>
      </p:sp>
      <p:sp>
        <p:nvSpPr>
          <p:cNvPr id="8" name="Deploy card 2"/>
          <p:cNvSpPr/>
          <p:nvPr/>
        </p:nvSpPr>
        <p:spPr>
          <a:xfrm>
            <a:off x="3246120" y="1234440"/>
            <a:ext cx="2606040" cy="1920240"/>
          </a:xfrm>
          <a:prstGeom prst="roundRect">
            <a:avLst>
              <a:gd name="adj" fmla="val 5714"/>
            </a:avLst>
          </a:prstGeom>
          <a:solidFill>
            <a:schemeClr val="bg2"/>
          </a:solidFill>
          <a:ln w="12700">
            <a:solidFill>
              <a:schemeClr val="bg2"/>
            </a:solidFill>
            <a:prstDash val="solid"/>
          </a:ln>
        </p:spPr>
      </p:sp>
      <p:sp>
        <p:nvSpPr>
          <p:cNvPr id="9" name="Deploy badge 2"/>
          <p:cNvSpPr/>
          <p:nvPr/>
        </p:nvSpPr>
        <p:spPr>
          <a:xfrm>
            <a:off x="3429000" y="1417320"/>
            <a:ext cx="502920" cy="502920"/>
          </a:xfrm>
          <a:prstGeom prst="ellipse">
            <a:avLst/>
          </a:prstGeom>
          <a:solidFill>
            <a:schemeClr val="accent1"/>
          </a:solidFill>
          <a:ln w="12700">
            <a:solidFill>
              <a:schemeClr val="accent1"/>
            </a:solidFill>
            <a:prstDash val="solid"/>
          </a:ln>
        </p:spPr>
      </p:sp>
      <p:sp>
        <p:nvSpPr>
          <p:cNvPr id="10" name="Deploy number 2"/>
          <p:cNvSpPr txBox="1"/>
          <p:nvPr/>
        </p:nvSpPr>
        <p:spPr>
          <a:xfrm>
            <a:off x="3429000" y="14173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Deploy head 2"/>
          <p:cNvSpPr txBox="1"/>
          <p:nvPr/>
        </p:nvSpPr>
        <p:spPr>
          <a:xfrm>
            <a:off x="4069080" y="1417320"/>
            <a:ext cx="1691640" cy="502920"/>
          </a:xfrm>
          <a:prstGeom prst="rect">
            <a:avLst/>
          </a:prstGeom>
          <a:noFill/>
          <a:ln/>
        </p:spPr>
        <p:txBody>
          <a:bodyPr wrap="square" lIns="0" tIns="0" rIns="0" bIns="0" rtlCol="0" anchor="ctr"/>
          <a:lstStyle/>
          <a:p>
            <a:pPr indent="0" marL="0">
              <a:buNone/>
            </a:pPr>
            <a:r>
              <a:rPr lang="en-US" sz="1600" b="1" dirty="0">
                <a:solidFill>
                  <a:schemeClr val="tx2"/>
                </a:solidFill>
              </a:rPr>
              <a:t>Vercel</a:t>
            </a:r>
            <a:endParaRPr lang="en-US" sz="1600" dirty="0"/>
          </a:p>
        </p:txBody>
      </p:sp>
      <p:sp>
        <p:nvSpPr>
          <p:cNvPr id="12" name="Deploy text 2"/>
          <p:cNvSpPr txBox="1"/>
          <p:nvPr/>
        </p:nvSpPr>
        <p:spPr>
          <a:xfrm>
            <a:off x="3429000" y="2057400"/>
            <a:ext cx="2286000" cy="1005840"/>
          </a:xfrm>
          <a:prstGeom prst="rect">
            <a:avLst/>
          </a:prstGeom>
          <a:noFill/>
          <a:ln/>
        </p:spPr>
        <p:txBody>
          <a:bodyPr wrap="square" lIns="0" tIns="0" rIns="0" bIns="0" rtlCol="0" anchor="t"/>
          <a:lstStyle/>
          <a:p>
            <a:pPr indent="0" marL="0">
              <a:buNone/>
            </a:pPr>
            <a:r>
              <a:rPr lang="en-US" sz="1250" dirty="0">
                <a:solidFill>
                  <a:schemeClr val="tx1"/>
                </a:solidFill>
              </a:rPr>
              <a:t>Backend + frontend. Add 3 environment variables, deploy, open /api/health</a:t>
            </a:r>
            <a:endParaRPr lang="en-US" sz="1250" dirty="0"/>
          </a:p>
        </p:txBody>
      </p:sp>
      <p:sp>
        <p:nvSpPr>
          <p:cNvPr id="13" name="Deploy card 3"/>
          <p:cNvSpPr/>
          <p:nvPr/>
        </p:nvSpPr>
        <p:spPr>
          <a:xfrm>
            <a:off x="6035040" y="1234440"/>
            <a:ext cx="2606040" cy="1920240"/>
          </a:xfrm>
          <a:prstGeom prst="roundRect">
            <a:avLst>
              <a:gd name="adj" fmla="val 5714"/>
            </a:avLst>
          </a:prstGeom>
          <a:solidFill>
            <a:schemeClr val="bg2"/>
          </a:solidFill>
          <a:ln w="12700">
            <a:solidFill>
              <a:schemeClr val="bg2"/>
            </a:solidFill>
            <a:prstDash val="solid"/>
          </a:ln>
        </p:spPr>
      </p:sp>
      <p:sp>
        <p:nvSpPr>
          <p:cNvPr id="14" name="Deploy badge 3"/>
          <p:cNvSpPr/>
          <p:nvPr/>
        </p:nvSpPr>
        <p:spPr>
          <a:xfrm>
            <a:off x="6217920" y="1417320"/>
            <a:ext cx="502920" cy="502920"/>
          </a:xfrm>
          <a:prstGeom prst="ellipse">
            <a:avLst/>
          </a:prstGeom>
          <a:solidFill>
            <a:schemeClr val="accent1"/>
          </a:solidFill>
          <a:ln w="12700">
            <a:solidFill>
              <a:schemeClr val="accent1"/>
            </a:solidFill>
            <a:prstDash val="solid"/>
          </a:ln>
        </p:spPr>
      </p:sp>
      <p:sp>
        <p:nvSpPr>
          <p:cNvPr id="15" name="Deploy number 3"/>
          <p:cNvSpPr txBox="1"/>
          <p:nvPr/>
        </p:nvSpPr>
        <p:spPr>
          <a:xfrm>
            <a:off x="6217920" y="14173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Deploy head 3"/>
          <p:cNvSpPr txBox="1"/>
          <p:nvPr/>
        </p:nvSpPr>
        <p:spPr>
          <a:xfrm>
            <a:off x="6858000" y="1417320"/>
            <a:ext cx="1691640" cy="502920"/>
          </a:xfrm>
          <a:prstGeom prst="rect">
            <a:avLst/>
          </a:prstGeom>
          <a:noFill/>
          <a:ln/>
        </p:spPr>
        <p:txBody>
          <a:bodyPr wrap="square" lIns="0" tIns="0" rIns="0" bIns="0" rtlCol="0" anchor="ctr"/>
          <a:lstStyle/>
          <a:p>
            <a:pPr indent="0" marL="0">
              <a:buNone/>
            </a:pPr>
            <a:r>
              <a:rPr lang="en-US" sz="1600" b="1" dirty="0">
                <a:solidFill>
                  <a:schemeClr val="tx2"/>
                </a:solidFill>
              </a:rPr>
              <a:t>Firebase Hosting</a:t>
            </a:r>
            <a:endParaRPr lang="en-US" sz="1600" dirty="0"/>
          </a:p>
        </p:txBody>
      </p:sp>
      <p:sp>
        <p:nvSpPr>
          <p:cNvPr id="17" name="Deploy text 3"/>
          <p:cNvSpPr txBox="1"/>
          <p:nvPr/>
        </p:nvSpPr>
        <p:spPr>
          <a:xfrm>
            <a:off x="6217920" y="2057400"/>
            <a:ext cx="2286000" cy="1005840"/>
          </a:xfrm>
          <a:prstGeom prst="rect">
            <a:avLst/>
          </a:prstGeom>
          <a:noFill/>
          <a:ln/>
        </p:spPr>
        <p:txBody>
          <a:bodyPr wrap="square" lIns="0" tIns="0" rIns="0" bIns="0" rtlCol="0" anchor="t"/>
          <a:lstStyle/>
          <a:p>
            <a:pPr indent="0" marL="0">
              <a:buNone/>
            </a:pPr>
            <a:r>
              <a:rPr lang="en-US" sz="1250" dirty="0">
                <a:solidFill>
                  <a:schemeClr val="tx1"/>
                </a:solidFill>
              </a:rPr>
              <a:t>Set API_BASE to the Vercel URL, then firebase deploy</a:t>
            </a:r>
            <a:endParaRPr lang="en-US" sz="1250" dirty="0"/>
          </a:p>
        </p:txBody>
      </p:sp>
      <p:sp>
        <p:nvSpPr>
          <p:cNvPr id="18" name="Env head"/>
          <p:cNvSpPr txBox="1"/>
          <p:nvPr/>
        </p:nvSpPr>
        <p:spPr>
          <a:xfrm>
            <a:off x="457200" y="3383280"/>
            <a:ext cx="3657600" cy="320040"/>
          </a:xfrm>
          <a:prstGeom prst="rect">
            <a:avLst/>
          </a:prstGeom>
          <a:noFill/>
          <a:ln/>
        </p:spPr>
        <p:txBody>
          <a:bodyPr wrap="square" lIns="0" tIns="0" rIns="0" bIns="0" rtlCol="0" anchor="ctr"/>
          <a:lstStyle/>
          <a:p>
            <a:pPr indent="0" marL="0">
              <a:buNone/>
            </a:pPr>
            <a:r>
              <a:rPr lang="en-US" sz="1500" b="1" dirty="0">
                <a:solidFill>
                  <a:schemeClr val="tx2"/>
                </a:solidFill>
              </a:rPr>
              <a:t>Environment variables</a:t>
            </a:r>
            <a:endParaRPr lang="en-US" sz="1500" dirty="0"/>
          </a:p>
        </p:txBody>
      </p:sp>
      <p:sp>
        <p:nvSpPr>
          <p:cNvPr id="19" name="Env chip 1"/>
          <p:cNvSpPr/>
          <p:nvPr/>
        </p:nvSpPr>
        <p:spPr>
          <a:xfrm>
            <a:off x="457200" y="3794760"/>
            <a:ext cx="2103120" cy="457200"/>
          </a:xfrm>
          <a:prstGeom prst="roundRect">
            <a:avLst>
              <a:gd name="adj" fmla="val 50000"/>
            </a:avLst>
          </a:prstGeom>
          <a:solidFill>
            <a:schemeClr val="tx2"/>
          </a:solidFill>
          <a:ln w="12700">
            <a:solidFill>
              <a:schemeClr val="tx2"/>
            </a:solidFill>
            <a:prstDash val="solid"/>
          </a:ln>
        </p:spPr>
      </p:sp>
      <p:sp>
        <p:nvSpPr>
          <p:cNvPr id="20" name="Env name 1"/>
          <p:cNvSpPr txBox="1"/>
          <p:nvPr/>
        </p:nvSpPr>
        <p:spPr>
          <a:xfrm>
            <a:off x="457200" y="3794760"/>
            <a:ext cx="2103120" cy="457200"/>
          </a:xfrm>
          <a:prstGeom prst="rect">
            <a:avLst/>
          </a:prstGeom>
          <a:noFill/>
          <a:ln/>
        </p:spPr>
        <p:txBody>
          <a:bodyPr wrap="square" lIns="0" tIns="0" rIns="0" bIns="0" rtlCol="0" anchor="ctr"/>
          <a:lstStyle/>
          <a:p>
            <a:pPr algn="ctr" indent="0" marL="0">
              <a:buNone/>
            </a:pPr>
            <a:r>
              <a:rPr lang="en-US" sz="1200" dirty="0">
                <a:solidFill>
                  <a:schemeClr val="bg1"/>
                </a:solidFill>
                <a:latin typeface="Courier New" pitchFamily="34" charset="0"/>
                <a:ea typeface="Courier New" pitchFamily="34" charset="-122"/>
                <a:cs typeface="Courier New" pitchFamily="34" charset="-120"/>
              </a:rPr>
              <a:t>GROQ_API_KEY</a:t>
            </a:r>
            <a:endParaRPr lang="en-US" sz="1200" dirty="0"/>
          </a:p>
        </p:txBody>
      </p:sp>
      <p:sp>
        <p:nvSpPr>
          <p:cNvPr id="21" name="Env chip 2"/>
          <p:cNvSpPr/>
          <p:nvPr/>
        </p:nvSpPr>
        <p:spPr>
          <a:xfrm>
            <a:off x="2697480" y="3794760"/>
            <a:ext cx="2651760" cy="457200"/>
          </a:xfrm>
          <a:prstGeom prst="roundRect">
            <a:avLst>
              <a:gd name="adj" fmla="val 50000"/>
            </a:avLst>
          </a:prstGeom>
          <a:solidFill>
            <a:schemeClr val="tx2"/>
          </a:solidFill>
          <a:ln w="12700">
            <a:solidFill>
              <a:schemeClr val="tx2"/>
            </a:solidFill>
            <a:prstDash val="solid"/>
          </a:ln>
        </p:spPr>
      </p:sp>
      <p:sp>
        <p:nvSpPr>
          <p:cNvPr id="22" name="Env name 2"/>
          <p:cNvSpPr txBox="1"/>
          <p:nvPr/>
        </p:nvSpPr>
        <p:spPr>
          <a:xfrm>
            <a:off x="2697480" y="3794760"/>
            <a:ext cx="2651760" cy="457200"/>
          </a:xfrm>
          <a:prstGeom prst="rect">
            <a:avLst/>
          </a:prstGeom>
          <a:noFill/>
          <a:ln/>
        </p:spPr>
        <p:txBody>
          <a:bodyPr wrap="square" lIns="0" tIns="0" rIns="0" bIns="0" rtlCol="0" anchor="ctr"/>
          <a:lstStyle/>
          <a:p>
            <a:pPr algn="ctr" indent="0" marL="0">
              <a:buNone/>
            </a:pPr>
            <a:r>
              <a:rPr lang="en-US" sz="1200" dirty="0">
                <a:solidFill>
                  <a:schemeClr val="bg1"/>
                </a:solidFill>
                <a:latin typeface="Courier New" pitchFamily="34" charset="0"/>
                <a:ea typeface="Courier New" pitchFamily="34" charset="-122"/>
                <a:cs typeface="Courier New" pitchFamily="34" charset="-120"/>
              </a:rPr>
              <a:t>FIREBASE_PROJECT_ID</a:t>
            </a:r>
            <a:endParaRPr lang="en-US" sz="1200" dirty="0"/>
          </a:p>
        </p:txBody>
      </p:sp>
      <p:sp>
        <p:nvSpPr>
          <p:cNvPr id="23" name="Env chip 3"/>
          <p:cNvSpPr/>
          <p:nvPr/>
        </p:nvSpPr>
        <p:spPr>
          <a:xfrm>
            <a:off x="5486400" y="3794760"/>
            <a:ext cx="2286000" cy="457200"/>
          </a:xfrm>
          <a:prstGeom prst="roundRect">
            <a:avLst>
              <a:gd name="adj" fmla="val 50000"/>
            </a:avLst>
          </a:prstGeom>
          <a:solidFill>
            <a:schemeClr val="tx2"/>
          </a:solidFill>
          <a:ln w="12700">
            <a:solidFill>
              <a:schemeClr val="tx2"/>
            </a:solidFill>
            <a:prstDash val="solid"/>
          </a:ln>
        </p:spPr>
      </p:sp>
      <p:sp>
        <p:nvSpPr>
          <p:cNvPr id="24" name="Env name 3"/>
          <p:cNvSpPr txBox="1"/>
          <p:nvPr/>
        </p:nvSpPr>
        <p:spPr>
          <a:xfrm>
            <a:off x="5486400" y="3794760"/>
            <a:ext cx="2286000" cy="457200"/>
          </a:xfrm>
          <a:prstGeom prst="rect">
            <a:avLst/>
          </a:prstGeom>
          <a:noFill/>
          <a:ln/>
        </p:spPr>
        <p:txBody>
          <a:bodyPr wrap="square" lIns="0" tIns="0" rIns="0" bIns="0" rtlCol="0" anchor="ctr"/>
          <a:lstStyle/>
          <a:p>
            <a:pPr algn="ctr" indent="0" marL="0">
              <a:buNone/>
            </a:pPr>
            <a:r>
              <a:rPr lang="en-US" sz="1200" dirty="0">
                <a:solidFill>
                  <a:schemeClr val="bg1"/>
                </a:solidFill>
                <a:latin typeface="Courier New" pitchFamily="34" charset="0"/>
                <a:ea typeface="Courier New" pitchFamily="34" charset="-122"/>
                <a:cs typeface="Courier New" pitchFamily="34" charset="-120"/>
              </a:rPr>
              <a:t>ALLOWED_ORIGINS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Limitations and future work</a:t>
            </a:r>
            <a:endParaRPr lang="en-US" sz="3000" dirty="0"/>
          </a:p>
        </p:txBody>
      </p:sp>
      <p:sp>
        <p:nvSpPr>
          <p:cNvPr id="3" name="Limits card"/>
          <p:cNvSpPr/>
          <p:nvPr/>
        </p:nvSpPr>
        <p:spPr>
          <a:xfrm>
            <a:off x="457200" y="1188720"/>
            <a:ext cx="4023360" cy="3108960"/>
          </a:xfrm>
          <a:prstGeom prst="roundRect">
            <a:avLst>
              <a:gd name="adj" fmla="val 3529"/>
            </a:avLst>
          </a:prstGeom>
          <a:solidFill>
            <a:schemeClr val="bg2"/>
          </a:solidFill>
          <a:ln w="12700">
            <a:solidFill>
              <a:schemeClr val="bg2"/>
            </a:solidFill>
            <a:prstDash val="solid"/>
          </a:ln>
        </p:spPr>
      </p:sp>
      <p:sp>
        <p:nvSpPr>
          <p:cNvPr id="4" name="Future card"/>
          <p:cNvSpPr/>
          <p:nvPr/>
        </p:nvSpPr>
        <p:spPr>
          <a:xfrm>
            <a:off x="4663440" y="1188720"/>
            <a:ext cx="4023360" cy="3108960"/>
          </a:xfrm>
          <a:prstGeom prst="roundRect">
            <a:avLst>
              <a:gd name="adj" fmla="val 3529"/>
            </a:avLst>
          </a:prstGeom>
          <a:solidFill>
            <a:schemeClr val="bg2"/>
          </a:solidFill>
          <a:ln w="12700">
            <a:solidFill>
              <a:schemeClr val="bg2"/>
            </a:solidFill>
            <a:prstDash val="solid"/>
          </a:ln>
        </p:spPr>
      </p:sp>
      <p:sp>
        <p:nvSpPr>
          <p:cNvPr id="5" name="Limits head"/>
          <p:cNvSpPr txBox="1"/>
          <p:nvPr/>
        </p:nvSpPr>
        <p:spPr>
          <a:xfrm>
            <a:off x="685800" y="1325880"/>
            <a:ext cx="3566160" cy="36576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Current limitations</a:t>
            </a:r>
            <a:endParaRPr lang="en-US" sz="1700" dirty="0"/>
          </a:p>
        </p:txBody>
      </p:sp>
      <p:sp>
        <p:nvSpPr>
          <p:cNvPr id="6" name="Future head"/>
          <p:cNvSpPr txBox="1"/>
          <p:nvPr/>
        </p:nvSpPr>
        <p:spPr>
          <a:xfrm>
            <a:off x="4892040" y="1325880"/>
            <a:ext cx="3566160" cy="365760"/>
          </a:xfrm>
          <a:prstGeom prst="rect">
            <a:avLst/>
          </a:prstGeom>
          <a:noFill/>
          <a:ln/>
        </p:spPr>
        <p:txBody>
          <a:bodyPr wrap="square" lIns="0" tIns="0" rIns="0" bIns="0" rtlCol="0" anchor="ctr"/>
          <a:lstStyle/>
          <a:p>
            <a:pPr indent="0" marL="0">
              <a:buNone/>
            </a:pPr>
            <a:r>
              <a:rPr lang="en-US" sz="1700" b="1" dirty="0">
                <a:solidFill>
                  <a:schemeClr val="accent1"/>
                </a:solidFill>
                <a:latin typeface="Cambria" pitchFamily="34" charset="0"/>
                <a:ea typeface="Cambria" pitchFamily="34" charset="-122"/>
                <a:cs typeface="Cambria" pitchFamily="34" charset="-120"/>
              </a:rPr>
              <a:t>Next steps</a:t>
            </a:r>
            <a:endParaRPr lang="en-US" sz="1700" dirty="0"/>
          </a:p>
        </p:txBody>
      </p:sp>
      <p:sp>
        <p:nvSpPr>
          <p:cNvPr id="7" name="Limits list"/>
          <p:cNvSpPr txBox="1"/>
          <p:nvPr/>
        </p:nvSpPr>
        <p:spPr>
          <a:xfrm>
            <a:off x="685800" y="1828800"/>
            <a:ext cx="3566160" cy="26517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Rate limiter is per instance (in memory)</a:t>
            </a:r>
            <a:endParaRPr lang="en-US" sz="1350" dirty="0"/>
          </a:p>
          <a:p>
            <a:pPr marL="342900" indent="-342900">
              <a:spcAft>
                <a:spcPts val="800"/>
              </a:spcAft>
              <a:buSzPct val="100000"/>
              <a:buChar char="•"/>
            </a:pPr>
            <a:r>
              <a:rPr lang="en-US" sz="1350" dirty="0">
                <a:solidFill>
                  <a:schemeClr val="tx1"/>
                </a:solidFill>
              </a:rPr>
              <a:t>Recurring bills created when the app opens</a:t>
            </a:r>
            <a:endParaRPr lang="en-US" sz="1350" dirty="0"/>
          </a:p>
          <a:p>
            <a:pPr marL="342900" indent="-342900">
              <a:spcAft>
                <a:spcPts val="800"/>
              </a:spcAft>
              <a:buSzPct val="100000"/>
              <a:buChar char="•"/>
            </a:pPr>
            <a:r>
              <a:rPr lang="en-US" sz="1350" dirty="0">
                <a:solidFill>
                  <a:schemeClr val="tx1"/>
                </a:solidFill>
              </a:rPr>
              <a:t>Voice input needs Chrome or Edge</a:t>
            </a:r>
            <a:endParaRPr lang="en-US" sz="1350" dirty="0"/>
          </a:p>
          <a:p>
            <a:pPr marL="342900" indent="-342900">
              <a:spcAft>
                <a:spcPts val="800"/>
              </a:spcAft>
              <a:buSzPct val="100000"/>
              <a:buChar char="•"/>
            </a:pPr>
            <a:r>
              <a:rPr lang="en-US" sz="1350" dirty="0">
                <a:solidFill>
                  <a:schemeClr val="tx1"/>
                </a:solidFill>
              </a:rPr>
              <a:t>Equal-share bill splitting only</a:t>
            </a:r>
            <a:endParaRPr lang="en-US" sz="1350" dirty="0"/>
          </a:p>
          <a:p>
            <a:pPr marL="342900" indent="-342900">
              <a:spcAft>
                <a:spcPts val="800"/>
              </a:spcAft>
              <a:buSzPct val="100000"/>
              <a:buChar char="•"/>
            </a:pPr>
            <a:r>
              <a:rPr lang="en-US" sz="1350" dirty="0">
                <a:solidFill>
                  <a:schemeClr val="tx1"/>
                </a:solidFill>
              </a:rPr>
              <a:t>Frontend mostly tested manually</a:t>
            </a:r>
            <a:endParaRPr lang="en-US" sz="1350" dirty="0"/>
          </a:p>
          <a:p>
            <a:pPr marL="342900" indent="-342900">
              <a:spcAft>
                <a:spcPts val="800"/>
              </a:spcAft>
              <a:buSzPct val="100000"/>
              <a:buChar char="•"/>
            </a:pPr>
            <a:r>
              <a:rPr lang="en-US" sz="1350" dirty="0">
                <a:solidFill>
                  <a:schemeClr val="tx1"/>
                </a:solidFill>
              </a:rPr>
              <a:t>Categories cannot be renamed yet</a:t>
            </a:r>
            <a:endParaRPr lang="en-US" sz="1350" dirty="0"/>
          </a:p>
        </p:txBody>
      </p:sp>
      <p:sp>
        <p:nvSpPr>
          <p:cNvPr id="8" name="Future list"/>
          <p:cNvSpPr txBox="1"/>
          <p:nvPr/>
        </p:nvSpPr>
        <p:spPr>
          <a:xfrm>
            <a:off x="4892040" y="1828800"/>
            <a:ext cx="3566160" cy="26517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Persistent rate limiting (Redis or Firestore)</a:t>
            </a:r>
            <a:endParaRPr lang="en-US" sz="1350" dirty="0"/>
          </a:p>
          <a:p>
            <a:pPr marL="342900" indent="-342900">
              <a:spcAft>
                <a:spcPts val="800"/>
              </a:spcAft>
              <a:buSzPct val="100000"/>
              <a:buChar char="•"/>
            </a:pPr>
            <a:r>
              <a:rPr lang="en-US" sz="1350" dirty="0">
                <a:solidFill>
                  <a:schemeClr val="tx1"/>
                </a:solidFill>
              </a:rPr>
              <a:t>Scheduled recurring bills and reminders</a:t>
            </a:r>
            <a:endParaRPr lang="en-US" sz="1350" dirty="0"/>
          </a:p>
          <a:p>
            <a:pPr marL="342900" indent="-342900">
              <a:spcAft>
                <a:spcPts val="800"/>
              </a:spcAft>
              <a:buSzPct val="100000"/>
              <a:buChar char="•"/>
            </a:pPr>
            <a:r>
              <a:rPr lang="en-US" sz="1350" dirty="0">
                <a:solidFill>
                  <a:schemeClr val="tx1"/>
                </a:solidFill>
              </a:rPr>
              <a:t>Receipt photo upload</a:t>
            </a:r>
            <a:endParaRPr lang="en-US" sz="1350" dirty="0"/>
          </a:p>
          <a:p>
            <a:pPr marL="342900" indent="-342900">
              <a:spcAft>
                <a:spcPts val="800"/>
              </a:spcAft>
              <a:buSzPct val="100000"/>
              <a:buChar char="•"/>
            </a:pPr>
            <a:r>
              <a:rPr lang="en-US" sz="1350" dirty="0">
                <a:solidFill>
                  <a:schemeClr val="tx1"/>
                </a:solidFill>
              </a:rPr>
              <a:t>Unequal splits, editable recurring rules</a:t>
            </a:r>
            <a:endParaRPr lang="en-US" sz="1350" dirty="0"/>
          </a:p>
          <a:p>
            <a:pPr marL="342900" indent="-342900">
              <a:spcAft>
                <a:spcPts val="800"/>
              </a:spcAft>
              <a:buSzPct val="100000"/>
              <a:buChar char="•"/>
            </a:pPr>
            <a:r>
              <a:rPr lang="en-US" sz="1350" dirty="0">
                <a:solidFill>
                  <a:schemeClr val="tx1"/>
                </a:solidFill>
              </a:rPr>
              <a:t>End-to-end frontend tests</a:t>
            </a:r>
            <a:endParaRPr lang="en-US" sz="1350" dirty="0"/>
          </a:p>
          <a:p>
            <a:pPr marL="342900" indent="-342900">
              <a:spcAft>
                <a:spcPts val="800"/>
              </a:spcAft>
              <a:buSzPct val="100000"/>
              <a:buChar char="•"/>
            </a:pPr>
            <a:r>
              <a:rPr lang="en-US" sz="1350" dirty="0">
                <a:solidFill>
                  <a:schemeClr val="tx1"/>
                </a:solidFill>
              </a:rPr>
              <a:t>Rename and re-colour categories</a:t>
            </a:r>
            <a:endParaRPr lang="en-US" sz="13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Decor circle"/>
          <p:cNvSpPr/>
          <p:nvPr/>
        </p:nvSpPr>
        <p:spPr>
          <a:xfrm>
            <a:off x="6766560" y="2377440"/>
            <a:ext cx="3840480" cy="3840480"/>
          </a:xfrm>
          <a:prstGeom prst="ellipse">
            <a:avLst/>
          </a:prstGeom>
          <a:solidFill>
            <a:schemeClr val="accent1">
              <a:alpha val="65000"/>
            </a:schemeClr>
          </a:solidFill>
          <a:ln w="12700">
            <a:solidFill>
              <a:schemeClr val="accent1"/>
            </a:solidFill>
            <a:prstDash val="solid"/>
          </a:ln>
        </p:spPr>
      </p:sp>
      <p:sp>
        <p:nvSpPr>
          <p:cNvPr id="3" name="Title"/>
          <p:cNvSpPr txBox="1"/>
          <p:nvPr/>
        </p:nvSpPr>
        <p:spPr>
          <a:xfrm>
            <a:off x="548640" y="822960"/>
            <a:ext cx="7315200" cy="914400"/>
          </a:xfrm>
          <a:prstGeom prst="rect">
            <a:avLst/>
          </a:prstGeom>
          <a:noFill/>
          <a:ln/>
        </p:spPr>
        <p:txBody>
          <a:bodyPr wrap="square" lIns="0" tIns="0" rIns="0" bIns="0" rtlCol="0" anchor="ctr"/>
          <a:lstStyle/>
          <a:p>
            <a:pPr indent="0" marL="0">
              <a:buNone/>
            </a:pPr>
            <a:r>
              <a:rPr lang="en-US" sz="4800" b="1" dirty="0">
                <a:solidFill>
                  <a:schemeClr val="bg1"/>
                </a:solidFill>
                <a:latin typeface="Cambria" pitchFamily="34" charset="0"/>
                <a:ea typeface="Cambria" pitchFamily="34" charset="-122"/>
                <a:cs typeface="Cambria" pitchFamily="34" charset="-120"/>
              </a:rPr>
              <a:t>Thank you</a:t>
            </a:r>
            <a:endParaRPr lang="en-US" sz="4800" dirty="0"/>
          </a:p>
        </p:txBody>
      </p:sp>
      <p:sp>
        <p:nvSpPr>
          <p:cNvPr id="4" name="Subtitle"/>
          <p:cNvSpPr txBox="1"/>
          <p:nvPr/>
        </p:nvSpPr>
        <p:spPr>
          <a:xfrm>
            <a:off x="548640" y="1737360"/>
            <a:ext cx="7315200" cy="457200"/>
          </a:xfrm>
          <a:prstGeom prst="rect">
            <a:avLst/>
          </a:prstGeom>
          <a:noFill/>
          <a:ln/>
        </p:spPr>
        <p:txBody>
          <a:bodyPr wrap="square" lIns="0" tIns="0" rIns="0" bIns="0" rtlCol="0" anchor="ctr"/>
          <a:lstStyle/>
          <a:p>
            <a:pPr indent="0" marL="0">
              <a:buNone/>
            </a:pPr>
            <a:r>
              <a:rPr lang="en-US" sz="2200" dirty="0">
                <a:solidFill>
                  <a:schemeClr val="accent2"/>
                </a:solidFill>
              </a:rPr>
              <a:t>Questions?</a:t>
            </a:r>
            <a:endParaRPr lang="en-US" sz="2200" dirty="0"/>
          </a:p>
        </p:txBody>
      </p:sp>
      <p:sp>
        <p:nvSpPr>
          <p:cNvPr id="5" name="Link label 1"/>
          <p:cNvSpPr txBox="1"/>
          <p:nvPr/>
        </p:nvSpPr>
        <p:spPr>
          <a:xfrm>
            <a:off x="548640" y="2743200"/>
            <a:ext cx="1188720" cy="365760"/>
          </a:xfrm>
          <a:prstGeom prst="rect">
            <a:avLst/>
          </a:prstGeom>
          <a:noFill/>
          <a:ln/>
        </p:spPr>
        <p:txBody>
          <a:bodyPr wrap="square" lIns="0" tIns="0" rIns="0" bIns="0" rtlCol="0" anchor="ctr"/>
          <a:lstStyle/>
          <a:p>
            <a:pPr indent="0" marL="0">
              <a:buNone/>
            </a:pPr>
            <a:r>
              <a:rPr lang="en-US" sz="1400" b="1" dirty="0">
                <a:solidFill>
                  <a:schemeClr val="bg2"/>
                </a:solidFill>
              </a:rPr>
              <a:t>Firebase</a:t>
            </a:r>
            <a:endParaRPr lang="en-US" sz="1400" dirty="0"/>
          </a:p>
        </p:txBody>
      </p:sp>
      <p:sp>
        <p:nvSpPr>
          <p:cNvPr id="6" name="Link url 1"/>
          <p:cNvSpPr txBox="1"/>
          <p:nvPr/>
        </p:nvSpPr>
        <p:spPr>
          <a:xfrm>
            <a:off x="1737360" y="2743200"/>
            <a:ext cx="5943600" cy="365760"/>
          </a:xfrm>
          <a:prstGeom prst="rect">
            <a:avLst/>
          </a:prstGeom>
          <a:noFill/>
          <a:ln/>
        </p:spPr>
        <p:txBody>
          <a:bodyPr wrap="square" lIns="0" tIns="0" rIns="0" bIns="0" rtlCol="0" anchor="ctr"/>
          <a:lstStyle/>
          <a:p>
            <a:pPr indent="0" marL="0">
              <a:buNone/>
            </a:pPr>
            <a:r>
              <a:rPr lang="en-US" sz="1400" dirty="0">
                <a:solidFill>
                  <a:schemeClr val="bg1"/>
                </a:solidFill>
              </a:rPr>
              <a:t>https://YOUR_PROJECT_ID.web.app</a:t>
            </a:r>
            <a:endParaRPr lang="en-US" sz="1400" dirty="0"/>
          </a:p>
        </p:txBody>
      </p:sp>
      <p:sp>
        <p:nvSpPr>
          <p:cNvPr id="7" name="Link label 2"/>
          <p:cNvSpPr txBox="1"/>
          <p:nvPr/>
        </p:nvSpPr>
        <p:spPr>
          <a:xfrm>
            <a:off x="548640" y="3200400"/>
            <a:ext cx="1188720" cy="365760"/>
          </a:xfrm>
          <a:prstGeom prst="rect">
            <a:avLst/>
          </a:prstGeom>
          <a:noFill/>
          <a:ln/>
        </p:spPr>
        <p:txBody>
          <a:bodyPr wrap="square" lIns="0" tIns="0" rIns="0" bIns="0" rtlCol="0" anchor="ctr"/>
          <a:lstStyle/>
          <a:p>
            <a:pPr indent="0" marL="0">
              <a:buNone/>
            </a:pPr>
            <a:r>
              <a:rPr lang="en-US" sz="1400" b="1" dirty="0">
                <a:solidFill>
                  <a:schemeClr val="bg2"/>
                </a:solidFill>
              </a:rPr>
              <a:t>Vercel</a:t>
            </a:r>
            <a:endParaRPr lang="en-US" sz="1400" dirty="0"/>
          </a:p>
        </p:txBody>
      </p:sp>
      <p:sp>
        <p:nvSpPr>
          <p:cNvPr id="8" name="Link url 2"/>
          <p:cNvSpPr txBox="1"/>
          <p:nvPr/>
        </p:nvSpPr>
        <p:spPr>
          <a:xfrm>
            <a:off x="1737360" y="3200400"/>
            <a:ext cx="5943600" cy="365760"/>
          </a:xfrm>
          <a:prstGeom prst="rect">
            <a:avLst/>
          </a:prstGeom>
          <a:noFill/>
          <a:ln/>
        </p:spPr>
        <p:txBody>
          <a:bodyPr wrap="square" lIns="0" tIns="0" rIns="0" bIns="0" rtlCol="0" anchor="ctr"/>
          <a:lstStyle/>
          <a:p>
            <a:pPr indent="0" marL="0">
              <a:buNone/>
            </a:pPr>
            <a:r>
              <a:rPr lang="en-US" sz="1400" dirty="0">
                <a:solidFill>
                  <a:schemeClr val="bg1"/>
                </a:solidFill>
              </a:rPr>
              <a:t>https://YOUR_APP.vercel.app</a:t>
            </a:r>
            <a:endParaRPr lang="en-US" sz="1400" dirty="0"/>
          </a:p>
        </p:txBody>
      </p:sp>
      <p:sp>
        <p:nvSpPr>
          <p:cNvPr id="9" name="Link label 3"/>
          <p:cNvSpPr txBox="1"/>
          <p:nvPr/>
        </p:nvSpPr>
        <p:spPr>
          <a:xfrm>
            <a:off x="548640" y="3657600"/>
            <a:ext cx="1188720" cy="365760"/>
          </a:xfrm>
          <a:prstGeom prst="rect">
            <a:avLst/>
          </a:prstGeom>
          <a:noFill/>
          <a:ln/>
        </p:spPr>
        <p:txBody>
          <a:bodyPr wrap="square" lIns="0" tIns="0" rIns="0" bIns="0" rtlCol="0" anchor="ctr"/>
          <a:lstStyle/>
          <a:p>
            <a:pPr indent="0" marL="0">
              <a:buNone/>
            </a:pPr>
            <a:r>
              <a:rPr lang="en-US" sz="1400" b="1" dirty="0">
                <a:solidFill>
                  <a:schemeClr val="bg2"/>
                </a:solidFill>
              </a:rPr>
              <a:t>GitHub</a:t>
            </a:r>
            <a:endParaRPr lang="en-US" sz="1400" dirty="0"/>
          </a:p>
        </p:txBody>
      </p:sp>
      <p:sp>
        <p:nvSpPr>
          <p:cNvPr id="10" name="Link url 3"/>
          <p:cNvSpPr txBox="1"/>
          <p:nvPr/>
        </p:nvSpPr>
        <p:spPr>
          <a:xfrm>
            <a:off x="1737360" y="3657600"/>
            <a:ext cx="5943600" cy="365760"/>
          </a:xfrm>
          <a:prstGeom prst="rect">
            <a:avLst/>
          </a:prstGeom>
          <a:noFill/>
          <a:ln/>
        </p:spPr>
        <p:txBody>
          <a:bodyPr wrap="square" lIns="0" tIns="0" rIns="0" bIns="0" rtlCol="0" anchor="ctr"/>
          <a:lstStyle/>
          <a:p>
            <a:pPr indent="0" marL="0">
              <a:buNone/>
            </a:pPr>
            <a:r>
              <a:rPr lang="en-US" sz="1400" dirty="0">
                <a:solidFill>
                  <a:schemeClr val="bg1"/>
                </a:solidFill>
              </a:rPr>
              <a:t>github.com/YOUR_USERNAME/budgetbuddy-ai</a:t>
            </a:r>
            <a:endParaRPr lang="en-US" sz="1400" dirty="0"/>
          </a:p>
        </p:txBody>
      </p:sp>
      <p:sp>
        <p:nvSpPr>
          <p:cNvPr id="11" name="Footer"/>
          <p:cNvSpPr txBox="1"/>
          <p:nvPr/>
        </p:nvSpPr>
        <p:spPr>
          <a:xfrm>
            <a:off x="548640" y="4526280"/>
            <a:ext cx="7315200" cy="320040"/>
          </a:xfrm>
          <a:prstGeom prst="rect">
            <a:avLst/>
          </a:prstGeom>
          <a:noFill/>
          <a:ln/>
        </p:spPr>
        <p:txBody>
          <a:bodyPr wrap="square" lIns="0" tIns="0" rIns="0" bIns="0" rtlCol="0" anchor="ctr"/>
          <a:lstStyle/>
          <a:p>
            <a:pPr indent="0" marL="0">
              <a:buNone/>
            </a:pPr>
            <a:r>
              <a:rPr lang="en-US" sz="1200" dirty="0">
                <a:solidFill>
                  <a:schemeClr val="bg2"/>
                </a:solidFill>
              </a:rPr>
              <a:t>Anushay Ayat  |  AI and Data Science  |  SMIT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Custom categories</a:t>
            </a:r>
            <a:endParaRPr lang="en-US" sz="3000" dirty="0"/>
          </a:p>
        </p:txBody>
      </p:sp>
      <p:sp>
        <p:nvSpPr>
          <p:cNvPr id="3" name="Category row 1"/>
          <p:cNvSpPr/>
          <p:nvPr/>
        </p:nvSpPr>
        <p:spPr>
          <a:xfrm>
            <a:off x="457200" y="1188720"/>
            <a:ext cx="4754880" cy="749808"/>
          </a:xfrm>
          <a:prstGeom prst="roundRect">
            <a:avLst>
              <a:gd name="adj" fmla="val 14634"/>
            </a:avLst>
          </a:prstGeom>
          <a:solidFill>
            <a:schemeClr val="bg2"/>
          </a:solidFill>
          <a:ln w="12700">
            <a:solidFill>
              <a:schemeClr val="bg2"/>
            </a:solidFill>
            <a:prstDash val="solid"/>
          </a:ln>
        </p:spPr>
      </p:sp>
      <p:sp>
        <p:nvSpPr>
          <p:cNvPr id="4" name="Category icon 1 circle"/>
          <p:cNvSpPr/>
          <p:nvPr/>
        </p:nvSpPr>
        <p:spPr>
          <a:xfrm>
            <a:off x="594360" y="1316736"/>
            <a:ext cx="493776" cy="493776"/>
          </a:xfrm>
          <a:prstGeom prst="ellipse">
            <a:avLst/>
          </a:prstGeom>
          <a:solidFill>
            <a:schemeClr val="accent1"/>
          </a:solidFill>
          <a:ln w="12700">
            <a:solidFill>
              <a:schemeClr val="accent1"/>
            </a:solidFill>
            <a:prstDash val="solid"/>
          </a:ln>
        </p:spPr>
      </p:sp>
      <p:pic>
        <p:nvPicPr>
          <p:cNvPr id="5" name="Category icon 1 icon" descr="AI icon 1">    </p:cNvPr>
          <p:cNvPicPr>
            <a:picLocks noChangeAspect="1"/>
          </p:cNvPicPr>
          <p:nvPr/>
        </p:nvPicPr>
        <p:blipFill>
          <a:blip r:embed="rId1"/>
          <a:stretch>
            <a:fillRect/>
          </a:stretch>
        </p:blipFill>
        <p:spPr>
          <a:xfrm>
            <a:off x="722742" y="1445118"/>
            <a:ext cx="237012" cy="237012"/>
          </a:xfrm>
          <a:prstGeom prst="rect">
            <a:avLst/>
          </a:prstGeom>
        </p:spPr>
      </p:pic>
      <p:sp>
        <p:nvSpPr>
          <p:cNvPr id="6" name="Category head 1"/>
          <p:cNvSpPr txBox="1"/>
          <p:nvPr/>
        </p:nvSpPr>
        <p:spPr>
          <a:xfrm>
            <a:off x="1280160" y="1261872"/>
            <a:ext cx="3840480" cy="274320"/>
          </a:xfrm>
          <a:prstGeom prst="rect">
            <a:avLst/>
          </a:prstGeom>
          <a:noFill/>
          <a:ln/>
        </p:spPr>
        <p:txBody>
          <a:bodyPr wrap="square" lIns="0" tIns="0" rIns="0" bIns="0" rtlCol="0" anchor="ctr"/>
          <a:lstStyle/>
          <a:p>
            <a:pPr indent="0" marL="0">
              <a:buNone/>
            </a:pPr>
            <a:r>
              <a:rPr lang="en-US" sz="1400" b="1" dirty="0">
                <a:solidFill>
                  <a:schemeClr val="tx2"/>
                </a:solidFill>
              </a:rPr>
              <a:t>Create anywhere</a:t>
            </a:r>
            <a:endParaRPr lang="en-US" sz="1400" dirty="0"/>
          </a:p>
        </p:txBody>
      </p:sp>
      <p:sp>
        <p:nvSpPr>
          <p:cNvPr id="7" name="Category text 1"/>
          <p:cNvSpPr txBox="1"/>
          <p:nvPr/>
        </p:nvSpPr>
        <p:spPr>
          <a:xfrm>
            <a:off x="1280160" y="1554480"/>
            <a:ext cx="3840480" cy="320040"/>
          </a:xfrm>
          <a:prstGeom prst="rect">
            <a:avLst/>
          </a:prstGeom>
          <a:noFill/>
          <a:ln/>
        </p:spPr>
        <p:txBody>
          <a:bodyPr wrap="square" lIns="0" tIns="0" rIns="0" bIns="0" rtlCol="0" anchor="t"/>
          <a:lstStyle/>
          <a:p>
            <a:pPr indent="0" marL="0">
              <a:buNone/>
            </a:pPr>
            <a:r>
              <a:rPr lang="en-US" sz="1200" dirty="0">
                <a:solidFill>
                  <a:schemeClr val="tx1"/>
                </a:solidFill>
              </a:rPr>
              <a:t>New category… in any form, or Manage categories</a:t>
            </a:r>
            <a:endParaRPr lang="en-US" sz="1200" dirty="0"/>
          </a:p>
        </p:txBody>
      </p:sp>
      <p:sp>
        <p:nvSpPr>
          <p:cNvPr id="8" name="Category row 2"/>
          <p:cNvSpPr/>
          <p:nvPr/>
        </p:nvSpPr>
        <p:spPr>
          <a:xfrm>
            <a:off x="457200" y="2057400"/>
            <a:ext cx="4754880" cy="749808"/>
          </a:xfrm>
          <a:prstGeom prst="roundRect">
            <a:avLst>
              <a:gd name="adj" fmla="val 14634"/>
            </a:avLst>
          </a:prstGeom>
          <a:solidFill>
            <a:schemeClr val="bg2"/>
          </a:solidFill>
          <a:ln w="12700">
            <a:solidFill>
              <a:schemeClr val="bg2"/>
            </a:solidFill>
            <a:prstDash val="solid"/>
          </a:ln>
        </p:spPr>
      </p:sp>
      <p:sp>
        <p:nvSpPr>
          <p:cNvPr id="9" name="Category icon 2 circle"/>
          <p:cNvSpPr/>
          <p:nvPr/>
        </p:nvSpPr>
        <p:spPr>
          <a:xfrm>
            <a:off x="594360" y="2185416"/>
            <a:ext cx="493776" cy="493776"/>
          </a:xfrm>
          <a:prstGeom prst="ellipse">
            <a:avLst/>
          </a:prstGeom>
          <a:solidFill>
            <a:schemeClr val="accent1"/>
          </a:solidFill>
          <a:ln w="12700">
            <a:solidFill>
              <a:schemeClr val="accent1"/>
            </a:solidFill>
            <a:prstDash val="solid"/>
          </a:ln>
        </p:spPr>
      </p:sp>
      <p:pic>
        <p:nvPicPr>
          <p:cNvPr id="10" name="Category icon 2 icon" descr="AI icon 2">    </p:cNvPr>
          <p:cNvPicPr>
            <a:picLocks noChangeAspect="1"/>
          </p:cNvPicPr>
          <p:nvPr/>
        </p:nvPicPr>
        <p:blipFill>
          <a:blip r:embed="rId2"/>
          <a:stretch>
            <a:fillRect/>
          </a:stretch>
        </p:blipFill>
        <p:spPr>
          <a:xfrm>
            <a:off x="722742" y="2313798"/>
            <a:ext cx="237012" cy="237012"/>
          </a:xfrm>
          <a:prstGeom prst="rect">
            <a:avLst/>
          </a:prstGeom>
        </p:spPr>
      </p:pic>
      <p:sp>
        <p:nvSpPr>
          <p:cNvPr id="11" name="Category head 2"/>
          <p:cNvSpPr txBox="1"/>
          <p:nvPr/>
        </p:nvSpPr>
        <p:spPr>
          <a:xfrm>
            <a:off x="1280160" y="2130552"/>
            <a:ext cx="3840480" cy="274320"/>
          </a:xfrm>
          <a:prstGeom prst="rect">
            <a:avLst/>
          </a:prstGeom>
          <a:noFill/>
          <a:ln/>
        </p:spPr>
        <p:txBody>
          <a:bodyPr wrap="square" lIns="0" tIns="0" rIns="0" bIns="0" rtlCol="0" anchor="ctr"/>
          <a:lstStyle/>
          <a:p>
            <a:pPr indent="0" marL="0">
              <a:buNone/>
            </a:pPr>
            <a:r>
              <a:rPr lang="en-US" sz="1400" b="1" dirty="0">
                <a:solidFill>
                  <a:schemeClr val="tx2"/>
                </a:solidFill>
              </a:rPr>
              <a:t>Name and colour</a:t>
            </a:r>
            <a:endParaRPr lang="en-US" sz="1400" dirty="0"/>
          </a:p>
        </p:txBody>
      </p:sp>
      <p:sp>
        <p:nvSpPr>
          <p:cNvPr id="12" name="Category text 2"/>
          <p:cNvSpPr txBox="1"/>
          <p:nvPr/>
        </p:nvSpPr>
        <p:spPr>
          <a:xfrm>
            <a:off x="1280160" y="2423160"/>
            <a:ext cx="3840480" cy="320040"/>
          </a:xfrm>
          <a:prstGeom prst="rect">
            <a:avLst/>
          </a:prstGeom>
          <a:noFill/>
          <a:ln/>
        </p:spPr>
        <p:txBody>
          <a:bodyPr wrap="square" lIns="0" tIns="0" rIns="0" bIns="0" rtlCol="0" anchor="t"/>
          <a:lstStyle/>
          <a:p>
            <a:pPr indent="0" marL="0">
              <a:buNone/>
            </a:pPr>
            <a:r>
              <a:rPr lang="en-US" sz="1200" dirty="0">
                <a:solidFill>
                  <a:schemeClr val="tx1"/>
                </a:solidFill>
              </a:rPr>
              <a:t>Up to 24 characters, 20 per user, no duplicates</a:t>
            </a:r>
            <a:endParaRPr lang="en-US" sz="1200" dirty="0"/>
          </a:p>
        </p:txBody>
      </p:sp>
      <p:sp>
        <p:nvSpPr>
          <p:cNvPr id="13" name="Category row 3"/>
          <p:cNvSpPr/>
          <p:nvPr/>
        </p:nvSpPr>
        <p:spPr>
          <a:xfrm>
            <a:off x="457200" y="2926080"/>
            <a:ext cx="4754880" cy="749808"/>
          </a:xfrm>
          <a:prstGeom prst="roundRect">
            <a:avLst>
              <a:gd name="adj" fmla="val 14634"/>
            </a:avLst>
          </a:prstGeom>
          <a:solidFill>
            <a:schemeClr val="bg2"/>
          </a:solidFill>
          <a:ln w="12700">
            <a:solidFill>
              <a:schemeClr val="bg2"/>
            </a:solidFill>
            <a:prstDash val="solid"/>
          </a:ln>
        </p:spPr>
      </p:sp>
      <p:sp>
        <p:nvSpPr>
          <p:cNvPr id="14" name="Category icon 3 circle"/>
          <p:cNvSpPr/>
          <p:nvPr/>
        </p:nvSpPr>
        <p:spPr>
          <a:xfrm>
            <a:off x="594360" y="3054096"/>
            <a:ext cx="493776" cy="493776"/>
          </a:xfrm>
          <a:prstGeom prst="ellipse">
            <a:avLst/>
          </a:prstGeom>
          <a:solidFill>
            <a:schemeClr val="accent1"/>
          </a:solidFill>
          <a:ln w="12700">
            <a:solidFill>
              <a:schemeClr val="accent1"/>
            </a:solidFill>
            <a:prstDash val="solid"/>
          </a:ln>
        </p:spPr>
      </p:sp>
      <p:pic>
        <p:nvPicPr>
          <p:cNvPr id="15" name="Category icon 3 icon" descr="AI icon 3">    </p:cNvPr>
          <p:cNvPicPr>
            <a:picLocks noChangeAspect="1"/>
          </p:cNvPicPr>
          <p:nvPr/>
        </p:nvPicPr>
        <p:blipFill>
          <a:blip r:embed="rId3"/>
          <a:stretch>
            <a:fillRect/>
          </a:stretch>
        </p:blipFill>
        <p:spPr>
          <a:xfrm>
            <a:off x="722742" y="3182478"/>
            <a:ext cx="237012" cy="237012"/>
          </a:xfrm>
          <a:prstGeom prst="rect">
            <a:avLst/>
          </a:prstGeom>
        </p:spPr>
      </p:pic>
      <p:sp>
        <p:nvSpPr>
          <p:cNvPr id="16" name="Category head 3"/>
          <p:cNvSpPr txBox="1"/>
          <p:nvPr/>
        </p:nvSpPr>
        <p:spPr>
          <a:xfrm>
            <a:off x="1280160" y="2999232"/>
            <a:ext cx="3840480" cy="274320"/>
          </a:xfrm>
          <a:prstGeom prst="rect">
            <a:avLst/>
          </a:prstGeom>
          <a:noFill/>
          <a:ln/>
        </p:spPr>
        <p:txBody>
          <a:bodyPr wrap="square" lIns="0" tIns="0" rIns="0" bIns="0" rtlCol="0" anchor="ctr"/>
          <a:lstStyle/>
          <a:p>
            <a:pPr indent="0" marL="0">
              <a:buNone/>
            </a:pPr>
            <a:r>
              <a:rPr lang="en-US" sz="1400" b="1" dirty="0">
                <a:solidFill>
                  <a:schemeClr val="tx2"/>
                </a:solidFill>
              </a:rPr>
              <a:t>Works everywhere</a:t>
            </a:r>
            <a:endParaRPr lang="en-US" sz="1400" dirty="0"/>
          </a:p>
        </p:txBody>
      </p:sp>
      <p:sp>
        <p:nvSpPr>
          <p:cNvPr id="17" name="Category text 3"/>
          <p:cNvSpPr txBox="1"/>
          <p:nvPr/>
        </p:nvSpPr>
        <p:spPr>
          <a:xfrm>
            <a:off x="1280160" y="3291840"/>
            <a:ext cx="3840480" cy="320040"/>
          </a:xfrm>
          <a:prstGeom prst="rect">
            <a:avLst/>
          </a:prstGeom>
          <a:noFill/>
          <a:ln/>
        </p:spPr>
        <p:txBody>
          <a:bodyPr wrap="square" lIns="0" tIns="0" rIns="0" bIns="0" rtlCol="0" anchor="t"/>
          <a:lstStyle/>
          <a:p>
            <a:pPr indent="0" marL="0">
              <a:buNone/>
            </a:pPr>
            <a:r>
              <a:rPr lang="en-US" sz="1200" dirty="0">
                <a:solidFill>
                  <a:schemeClr val="tx1"/>
                </a:solidFill>
              </a:rPr>
              <a:t>Charts, limits, filters, reports and AI</a:t>
            </a:r>
            <a:endParaRPr lang="en-US" sz="1200" dirty="0"/>
          </a:p>
        </p:txBody>
      </p:sp>
      <p:sp>
        <p:nvSpPr>
          <p:cNvPr id="18" name="Category row 4"/>
          <p:cNvSpPr/>
          <p:nvPr/>
        </p:nvSpPr>
        <p:spPr>
          <a:xfrm>
            <a:off x="457200" y="3794760"/>
            <a:ext cx="4754880" cy="749808"/>
          </a:xfrm>
          <a:prstGeom prst="roundRect">
            <a:avLst>
              <a:gd name="adj" fmla="val 14634"/>
            </a:avLst>
          </a:prstGeom>
          <a:solidFill>
            <a:schemeClr val="bg2"/>
          </a:solidFill>
          <a:ln w="12700">
            <a:solidFill>
              <a:schemeClr val="bg2"/>
            </a:solidFill>
            <a:prstDash val="solid"/>
          </a:ln>
        </p:spPr>
      </p:sp>
      <p:sp>
        <p:nvSpPr>
          <p:cNvPr id="19" name="Category icon 4 circle"/>
          <p:cNvSpPr/>
          <p:nvPr/>
        </p:nvSpPr>
        <p:spPr>
          <a:xfrm>
            <a:off x="594360" y="3922776"/>
            <a:ext cx="493776" cy="493776"/>
          </a:xfrm>
          <a:prstGeom prst="ellipse">
            <a:avLst/>
          </a:prstGeom>
          <a:solidFill>
            <a:schemeClr val="accent1"/>
          </a:solidFill>
          <a:ln w="12700">
            <a:solidFill>
              <a:schemeClr val="accent1"/>
            </a:solidFill>
            <a:prstDash val="solid"/>
          </a:ln>
        </p:spPr>
      </p:sp>
      <p:pic>
        <p:nvPicPr>
          <p:cNvPr id="20" name="Category icon 4 icon" descr="AI icon 4">    </p:cNvPr>
          <p:cNvPicPr>
            <a:picLocks noChangeAspect="1"/>
          </p:cNvPicPr>
          <p:nvPr/>
        </p:nvPicPr>
        <p:blipFill>
          <a:blip r:embed="rId4"/>
          <a:stretch>
            <a:fillRect/>
          </a:stretch>
        </p:blipFill>
        <p:spPr>
          <a:xfrm>
            <a:off x="722742" y="4051158"/>
            <a:ext cx="237012" cy="237012"/>
          </a:xfrm>
          <a:prstGeom prst="rect">
            <a:avLst/>
          </a:prstGeom>
        </p:spPr>
      </p:pic>
      <p:sp>
        <p:nvSpPr>
          <p:cNvPr id="21" name="Category head 4"/>
          <p:cNvSpPr txBox="1"/>
          <p:nvPr/>
        </p:nvSpPr>
        <p:spPr>
          <a:xfrm>
            <a:off x="1280160" y="3867912"/>
            <a:ext cx="3840480" cy="274320"/>
          </a:xfrm>
          <a:prstGeom prst="rect">
            <a:avLst/>
          </a:prstGeom>
          <a:noFill/>
          <a:ln/>
        </p:spPr>
        <p:txBody>
          <a:bodyPr wrap="square" lIns="0" tIns="0" rIns="0" bIns="0" rtlCol="0" anchor="ctr"/>
          <a:lstStyle/>
          <a:p>
            <a:pPr indent="0" marL="0">
              <a:buNone/>
            </a:pPr>
            <a:r>
              <a:rPr lang="en-US" sz="1400" b="1" dirty="0">
                <a:solidFill>
                  <a:schemeClr val="tx2"/>
                </a:solidFill>
              </a:rPr>
              <a:t>Safe delete</a:t>
            </a:r>
            <a:endParaRPr lang="en-US" sz="1400" dirty="0"/>
          </a:p>
        </p:txBody>
      </p:sp>
      <p:sp>
        <p:nvSpPr>
          <p:cNvPr id="22" name="Category text 4"/>
          <p:cNvSpPr txBox="1"/>
          <p:nvPr/>
        </p:nvSpPr>
        <p:spPr>
          <a:xfrm>
            <a:off x="1280160" y="4160520"/>
            <a:ext cx="3840480" cy="320040"/>
          </a:xfrm>
          <a:prstGeom prst="rect">
            <a:avLst/>
          </a:prstGeom>
          <a:noFill/>
          <a:ln/>
        </p:spPr>
        <p:txBody>
          <a:bodyPr wrap="square" lIns="0" tIns="0" rIns="0" bIns="0" rtlCol="0" anchor="t"/>
          <a:lstStyle/>
          <a:p>
            <a:pPr indent="0" marL="0">
              <a:buNone/>
            </a:pPr>
            <a:r>
              <a:rPr lang="en-US" sz="1200" dirty="0">
                <a:solidFill>
                  <a:schemeClr val="tx1"/>
                </a:solidFill>
              </a:rPr>
              <a:t>Expenses move to Other; the limit is removed</a:t>
            </a:r>
            <a:endParaRPr lang="en-US" sz="1200" dirty="0"/>
          </a:p>
        </p:txBody>
      </p:sp>
      <p:sp>
        <p:nvSpPr>
          <p:cNvPr id="23" name="Prompt card"/>
          <p:cNvSpPr/>
          <p:nvPr/>
        </p:nvSpPr>
        <p:spPr>
          <a:xfrm>
            <a:off x="5486400" y="1188720"/>
            <a:ext cx="3200400" cy="3383280"/>
          </a:xfrm>
          <a:prstGeom prst="roundRect">
            <a:avLst>
              <a:gd name="adj" fmla="val 2857"/>
            </a:avLst>
          </a:prstGeom>
          <a:solidFill>
            <a:schemeClr val="tx2"/>
          </a:solidFill>
          <a:ln w="12700">
            <a:solidFill>
              <a:schemeClr val="tx2"/>
            </a:solidFill>
            <a:prstDash val="solid"/>
          </a:ln>
        </p:spPr>
      </p:sp>
      <p:sp>
        <p:nvSpPr>
          <p:cNvPr id="24" name="Prompt head"/>
          <p:cNvSpPr txBox="1"/>
          <p:nvPr/>
        </p:nvSpPr>
        <p:spPr>
          <a:xfrm>
            <a:off x="5715000" y="1325880"/>
            <a:ext cx="2743200" cy="365760"/>
          </a:xfrm>
          <a:prstGeom prst="rect">
            <a:avLst/>
          </a:prstGeom>
          <a:noFill/>
          <a:ln/>
        </p:spPr>
        <p:txBody>
          <a:bodyPr wrap="square" lIns="0" tIns="0" rIns="0" bIns="0" rtlCol="0" anchor="ctr"/>
          <a:lstStyle/>
          <a:p>
            <a:pPr indent="0" marL="0">
              <a:buNone/>
            </a:pPr>
            <a:r>
              <a:rPr lang="en-US" sz="1700" b="1" dirty="0">
                <a:solidFill>
                  <a:schemeClr val="accent2"/>
                </a:solidFill>
                <a:latin typeface="Cambria" pitchFamily="34" charset="0"/>
                <a:ea typeface="Cambria" pitchFamily="34" charset="-122"/>
                <a:cs typeface="Cambria" pitchFamily="34" charset="-120"/>
              </a:rPr>
              <a:t>How it is stored</a:t>
            </a:r>
            <a:endParaRPr lang="en-US" sz="1700" dirty="0"/>
          </a:p>
        </p:txBody>
      </p:sp>
      <p:sp>
        <p:nvSpPr>
          <p:cNvPr id="25" name="Prompt list"/>
          <p:cNvSpPr txBox="1"/>
          <p:nvPr/>
        </p:nvSpPr>
        <p:spPr>
          <a:xfrm>
            <a:off x="5715000" y="1828800"/>
            <a:ext cx="2743200" cy="2651760"/>
          </a:xfrm>
          <a:prstGeom prst="rect">
            <a:avLst/>
          </a:prstGeom>
          <a:noFill/>
          <a:ln/>
        </p:spPr>
        <p:txBody>
          <a:bodyPr wrap="square" lIns="0" tIns="0" rIns="0" bIns="0" rtlCol="0" anchor="t"/>
          <a:lstStyle/>
          <a:p>
            <a:pPr marL="342900" indent="-342900">
              <a:spcAft>
                <a:spcPts val="1400"/>
              </a:spcAft>
              <a:buSzPct val="100000"/>
              <a:buChar char="•"/>
            </a:pPr>
            <a:r>
              <a:rPr lang="en-US" sz="1450" dirty="0">
                <a:solidFill>
                  <a:schemeClr val="bg1"/>
                </a:solidFill>
              </a:rPr>
              <a:t>Saved as users/{uid}.customCats</a:t>
            </a:r>
            <a:endParaRPr lang="en-US" sz="1450" dirty="0"/>
          </a:p>
          <a:p>
            <a:pPr marL="342900" indent="-342900">
              <a:spcAft>
                <a:spcPts val="1400"/>
              </a:spcAft>
              <a:buSzPct val="100000"/>
              <a:buChar char="•"/>
            </a:pPr>
            <a:r>
              <a:rPr lang="en-US" sz="1450" dirty="0">
                <a:solidFill>
                  <a:schemeClr val="bg1"/>
                </a:solidFill>
              </a:rPr>
              <a:t>Same security rule; no rule change</a:t>
            </a:r>
            <a:endParaRPr lang="en-US" sz="1450" dirty="0"/>
          </a:p>
          <a:p>
            <a:pPr marL="342900" indent="-342900">
              <a:spcAft>
                <a:spcPts val="1400"/>
              </a:spcAft>
              <a:buSzPct val="100000"/>
              <a:buChar char="•"/>
            </a:pPr>
            <a:r>
              <a:rPr lang="en-US" sz="1450" dirty="0">
                <a:solidFill>
                  <a:schemeClr val="bg1"/>
                </a:solidFill>
              </a:rPr>
              <a:t>Names escaped, colours validated</a:t>
            </a:r>
            <a:endParaRPr lang="en-US" sz="1450" dirty="0"/>
          </a:p>
          <a:p>
            <a:pPr marL="342900" indent="-342900">
              <a:spcAft>
                <a:spcPts val="1400"/>
              </a:spcAft>
              <a:buSzPct val="100000"/>
              <a:buChar char="•"/>
            </a:pPr>
            <a:r>
              <a:rPr lang="en-US" sz="1450" dirty="0">
                <a:solidFill>
                  <a:schemeClr val="bg1"/>
                </a:solidFill>
              </a:rPr>
              <a:t>29 automated jsdom checks pass</a:t>
            </a:r>
            <a:endParaRPr lang="en-US" sz="14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BudgetBuddy">
  <a:themeElements>
    <a:clrScheme name="BudgetBuddy">
      <a:dk1>
        <a:srgbClr val="1F2937"/>
      </a:dk1>
      <a:lt1>
        <a:srgbClr val="FFFFFF"/>
      </a:lt1>
      <a:dk2>
        <a:srgbClr val="0B3B38"/>
      </a:dk2>
      <a:lt2>
        <a:srgbClr val="E6F4F1"/>
      </a:lt2>
      <a:accent1>
        <a:srgbClr val="0F766E"/>
      </a:accent1>
      <a:accent2>
        <a:srgbClr val="F59E0B"/>
      </a:accent2>
      <a:accent3>
        <a:srgbClr val="6366F1"/>
      </a:accent3>
      <a:accent4>
        <a:srgbClr val="0EA5E9"/>
      </a:accent4>
      <a:accent5>
        <a:srgbClr val="E11D48"/>
      </a:accent5>
      <a:accent6>
        <a:srgbClr val="64748B"/>
      </a:accent6>
      <a:hlink>
        <a:srgbClr val="0F766E"/>
      </a:hlink>
      <a:folHlink>
        <a:srgbClr val="64748B"/>
      </a:folHlink>
    </a:clrScheme>
    <a:fontScheme name="BudgetBudd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BudgetBuddy AI</dc:title>
  <dc:subject>PptxGenJS Presentation</dc:subject>
  <dc:creator>Anushay Ayat</dc:creator>
  <cp:lastModifiedBy>Anushay Ayat</cp:lastModifiedBy>
  <cp:revision>1</cp:revision>
  <dcterms:created xsi:type="dcterms:W3CDTF">2026-10-02T18:34:24Z</dcterms:created>
  <dcterms:modified xsi:type="dcterms:W3CDTF">2026-10-02T18:34:24Z</dcterms:modified>
</cp:coreProperties>
</file>